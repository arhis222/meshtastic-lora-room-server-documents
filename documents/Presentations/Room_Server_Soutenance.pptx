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svg" ContentType="image/svg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Click to move </a:t>
            </a: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the slide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notes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68DDCD0-E20F-4C55-8083-B8A5F02CD48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Final report provided by the user: project title page, abstract, sections 2, 6, 7, 8, 9, 10.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[/Sources]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DC0AC9-ECA4-4903-B9B4-D841B4E7AED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Final report: sections 1, 2.1, 2.2, 2.3, 9.1, 10.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[/Sources]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99BE83-9AC4-4A83-BE91-57170B2ED81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Final report: sections 2.2 and 2.3.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[/Sources]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630135-ACEE-42E7-8ED4-07D2A3EB8D0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Final report: sections 6.1, 6.2, 6.3, 6.6 and figure descriptions for Figures 2, 3, 4.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[/Sources]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DF8E1B-D7F5-4DB0-BC18-B7C6AA40AA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Final report: sections 3.2, 6.3, 6.4, 6.6.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[/Sources]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81FF08-6226-4340-B552-8449F363C69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Final report: sections 5.1, 5.2, 5.3, 7.3, 7.4, 10.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[/Sources]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934D54-E931-46A1-AAA0-125F3C8D604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Final report: sections 8.1, 8.2, 8.3, 8.4.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[/Sources]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C2F6AE-6677-4255-AFD6-2FB5F7CCCB9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Final report: sections 9.1, 9.2, 9.3, 10.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[/Sources]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1CAC66-0EA6-416B-863B-EA4BD9380EF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B364D04-541B-4F74-AF40-8DEB28A38F9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0"/>
          <p:cNvSpPr/>
          <p:nvPr/>
        </p:nvSpPr>
        <p:spPr>
          <a:xfrm>
            <a:off x="0" y="0"/>
            <a:ext cx="12188160" cy="2005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Shape 1"/>
          <p:cNvSpPr/>
          <p:nvPr/>
        </p:nvSpPr>
        <p:spPr>
          <a:xfrm>
            <a:off x="0" y="6565320"/>
            <a:ext cx="12188160" cy="29196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Text 2"/>
          <p:cNvSpPr/>
          <p:nvPr/>
        </p:nvSpPr>
        <p:spPr>
          <a:xfrm>
            <a:off x="365760" y="6583680"/>
            <a:ext cx="4114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Aptos"/>
              </a:rPr>
              <a:t>INFO4 · Polytech Grenoble · S8 Project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Text 3"/>
          <p:cNvSpPr/>
          <p:nvPr/>
        </p:nvSpPr>
        <p:spPr>
          <a:xfrm>
            <a:off x="10058400" y="6583680"/>
            <a:ext cx="16452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9e4f2"/>
                </a:solidFill>
                <a:latin typeface="Aptos"/>
              </a:rPr>
              <a:t>Room Server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1750040" y="6583680"/>
            <a:ext cx="227880" cy="1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ffffff"/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6E8F6B-EC2D-4D17-8025-E4BC68135B8E}" type="slidenum">
              <a:rPr b="0" lang="en-US" sz="1000" spc="-1" strike="noStrike">
                <a:solidFill>
                  <a:srgbClr val="ffffff"/>
                </a:solidFill>
                <a:latin typeface="Apto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Click to edit the </a:t>
            </a: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title text format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0"/>
          <p:cNvSpPr/>
          <p:nvPr/>
        </p:nvSpPr>
        <p:spPr>
          <a:xfrm>
            <a:off x="594360" y="1143000"/>
            <a:ext cx="10972080" cy="43884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25560" dir="2700000" dist="12218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Shape 1"/>
          <p:cNvSpPr/>
          <p:nvPr/>
        </p:nvSpPr>
        <p:spPr>
          <a:xfrm>
            <a:off x="594360" y="1143000"/>
            <a:ext cx="200520" cy="4388400"/>
          </a:xfrm>
          <a:prstGeom prst="rect">
            <a:avLst/>
          </a:prstGeom>
          <a:solidFill>
            <a:srgbClr val="e58e26"/>
          </a:solidFill>
          <a:ln w="12700">
            <a:solidFill>
              <a:srgbClr val="e58e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960120" y="1554480"/>
            <a:ext cx="62172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63a5f"/>
                </a:solidFill>
                <a:latin typeface="Aptos Display"/>
                <a:ea typeface="Aptos Display"/>
              </a:rPr>
              <a:t>Meshtastic LoRa Room Server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987480" y="2240280"/>
            <a:ext cx="5302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2f6fa3"/>
                </a:solidFill>
                <a:latin typeface="Aptos"/>
              </a:rPr>
              <a:t>Soutenance finale · Projet Semestre S8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4"/>
          <p:cNvSpPr/>
          <p:nvPr/>
        </p:nvSpPr>
        <p:spPr>
          <a:xfrm>
            <a:off x="987480" y="2788920"/>
            <a:ext cx="56685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Objectif : ajouter une couche applicative de salons persistants au-dessus du réseau mesh Meshtastic, avec une architecture légère, robuste et adaptée aux contraintes LoRa.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5"/>
          <p:cNvSpPr/>
          <p:nvPr/>
        </p:nvSpPr>
        <p:spPr>
          <a:xfrm>
            <a:off x="987480" y="4069080"/>
            <a:ext cx="1508040" cy="319320"/>
          </a:xfrm>
          <a:prstGeom prst="roundRect">
            <a:avLst>
              <a:gd name="adj" fmla="val 22857"/>
            </a:avLst>
          </a:prstGeom>
          <a:solidFill>
            <a:srgbClr val="163a5f"/>
          </a:solidFill>
          <a:ln w="12700">
            <a:solidFill>
              <a:srgbClr val="16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6"/>
          <p:cNvSpPr/>
          <p:nvPr/>
        </p:nvSpPr>
        <p:spPr>
          <a:xfrm>
            <a:off x="1060560" y="4123800"/>
            <a:ext cx="13618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</a:rPr>
              <a:t>INFO4 2025-2026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7"/>
          <p:cNvSpPr/>
          <p:nvPr/>
        </p:nvSpPr>
        <p:spPr>
          <a:xfrm>
            <a:off x="2633400" y="4069080"/>
            <a:ext cx="1416600" cy="319320"/>
          </a:xfrm>
          <a:prstGeom prst="roundRect">
            <a:avLst>
              <a:gd name="adj" fmla="val 22857"/>
            </a:avLst>
          </a:prstGeom>
          <a:solidFill>
            <a:srgbClr val="2f6fa3"/>
          </a:solidFill>
          <a:ln w="12700">
            <a:solidFill>
              <a:srgbClr val="2f6fa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8"/>
          <p:cNvSpPr/>
          <p:nvPr/>
        </p:nvSpPr>
        <p:spPr>
          <a:xfrm>
            <a:off x="2706480" y="4123800"/>
            <a:ext cx="12704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</a:rPr>
              <a:t>Polytech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9"/>
          <p:cNvSpPr/>
          <p:nvPr/>
        </p:nvSpPr>
        <p:spPr>
          <a:xfrm>
            <a:off x="4187880" y="4069080"/>
            <a:ext cx="1965240" cy="319320"/>
          </a:xfrm>
          <a:prstGeom prst="roundRect">
            <a:avLst>
              <a:gd name="adj" fmla="val 22857"/>
            </a:avLst>
          </a:prstGeom>
          <a:solidFill>
            <a:srgbClr val="e58e26"/>
          </a:solidFill>
          <a:ln w="12700">
            <a:solidFill>
              <a:srgbClr val="e58e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0"/>
          <p:cNvSpPr/>
          <p:nvPr/>
        </p:nvSpPr>
        <p:spPr>
          <a:xfrm>
            <a:off x="3976920" y="4123800"/>
            <a:ext cx="23684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fr-FR" sz="1000" spc="-1" strike="noStrike">
                <a:solidFill>
                  <a:srgbClr val="ffffff"/>
                </a:solidFill>
                <a:latin typeface="Aptos"/>
              </a:rPr>
              <a:t>Encadrant : </a:t>
            </a:r>
            <a:r>
              <a:rPr b="1" lang="en-US" sz="1000" spc="-1" strike="noStrike">
                <a:solidFill>
                  <a:srgbClr val="ffffff"/>
                </a:solidFill>
                <a:latin typeface="Aptos"/>
              </a:rPr>
              <a:t>Francois Letellier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11"/>
          <p:cNvSpPr/>
          <p:nvPr/>
        </p:nvSpPr>
        <p:spPr>
          <a:xfrm>
            <a:off x="7315200" y="1554480"/>
            <a:ext cx="3611160" cy="3199680"/>
          </a:xfrm>
          <a:prstGeom prst="roundRect">
            <a:avLst>
              <a:gd name="adj" fmla="val 1714"/>
            </a:avLst>
          </a:prstGeom>
          <a:solidFill>
            <a:srgbClr val="eaf2fb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12"/>
          <p:cNvSpPr/>
          <p:nvPr/>
        </p:nvSpPr>
        <p:spPr>
          <a:xfrm>
            <a:off x="7589520" y="1920240"/>
            <a:ext cx="913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3a5f"/>
                </a:solidFill>
                <a:latin typeface="Aptos"/>
              </a:rPr>
              <a:t>Équipe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13"/>
          <p:cNvSpPr/>
          <p:nvPr/>
        </p:nvSpPr>
        <p:spPr>
          <a:xfrm>
            <a:off x="7589520" y="2331720"/>
            <a:ext cx="21024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d2433"/>
                </a:solidFill>
                <a:latin typeface="Aptos"/>
              </a:rPr>
              <a:t>TAWFIK Adam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d2433"/>
                </a:solidFill>
                <a:latin typeface="Aptos"/>
              </a:rPr>
              <a:t>UNAY Arhan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14"/>
          <p:cNvSpPr/>
          <p:nvPr/>
        </p:nvSpPr>
        <p:spPr>
          <a:xfrm>
            <a:off x="7589520" y="3794760"/>
            <a:ext cx="191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d6b82"/>
                </a:solidFill>
                <a:latin typeface="Aptos"/>
              </a:rPr>
              <a:t>Mars 2026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16"/>
          <p:cNvSpPr/>
          <p:nvPr/>
        </p:nvSpPr>
        <p:spPr>
          <a:xfrm>
            <a:off x="10195560" y="2148840"/>
            <a:ext cx="82224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sldNum" idx="5"/>
          </p:nvPr>
        </p:nvSpPr>
        <p:spPr>
          <a:xfrm>
            <a:off x="11750040" y="6583680"/>
            <a:ext cx="227880" cy="1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ffffff"/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30BDCB-2A51-4E67-84B1-99E86F95F2F5}" type="slidenum">
              <a:rPr b="0" lang="en-US" sz="1000" spc="-1" strike="noStrike">
                <a:solidFill>
                  <a:srgbClr val="ffffff"/>
                </a:solidFill>
                <a:latin typeface="Apto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0" name="Picture 3" descr=""/>
          <p:cNvPicPr/>
          <p:nvPr/>
        </p:nvPicPr>
        <p:blipFill>
          <a:blip r:embed="rId1"/>
          <a:stretch/>
        </p:blipFill>
        <p:spPr>
          <a:xfrm>
            <a:off x="77760" y="273600"/>
            <a:ext cx="1920240" cy="640080"/>
          </a:xfrm>
          <a:prstGeom prst="rect">
            <a:avLst/>
          </a:prstGeom>
          <a:ln w="0">
            <a:noFill/>
          </a:ln>
        </p:spPr>
      </p:pic>
      <p:pic>
        <p:nvPicPr>
          <p:cNvPr id="31" name="Picture 4" descr=""/>
          <p:cNvPicPr/>
          <p:nvPr/>
        </p:nvPicPr>
        <p:blipFill>
          <a:blip r:embed="rId2"/>
          <a:stretch/>
        </p:blipFill>
        <p:spPr>
          <a:xfrm>
            <a:off x="5214600" y="1238400"/>
            <a:ext cx="1880280" cy="1252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800">
        <p:circle/>
      </p:transition>
    </mc:Choice>
    <mc:Fallback>
      <p:transition spd="med">
        <p:circl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0"/>
          <p:cNvSpPr/>
          <p:nvPr/>
        </p:nvSpPr>
        <p:spPr>
          <a:xfrm>
            <a:off x="502920" y="411480"/>
            <a:ext cx="7131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3a5f"/>
                </a:solidFill>
                <a:latin typeface="Aptos Display"/>
                <a:ea typeface="Aptos Display"/>
              </a:rPr>
              <a:t>Contexte et besoin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1"/>
          <p:cNvSpPr/>
          <p:nvPr/>
        </p:nvSpPr>
        <p:spPr>
          <a:xfrm>
            <a:off x="530280" y="841320"/>
            <a:ext cx="7954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d6b82"/>
                </a:solidFill>
                <a:latin typeface="Aptos"/>
              </a:rPr>
              <a:t>Pourquoi ce projet est utile dans un réseau LoRa mesh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2"/>
          <p:cNvSpPr/>
          <p:nvPr/>
        </p:nvSpPr>
        <p:spPr>
          <a:xfrm>
            <a:off x="640080" y="1325880"/>
            <a:ext cx="3656880" cy="196524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3"/>
          <p:cNvSpPr/>
          <p:nvPr/>
        </p:nvSpPr>
        <p:spPr>
          <a:xfrm>
            <a:off x="777240" y="1463040"/>
            <a:ext cx="3382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Constat initial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4"/>
          <p:cNvSpPr/>
          <p:nvPr/>
        </p:nvSpPr>
        <p:spPr>
          <a:xfrm>
            <a:off x="777240" y="1737360"/>
            <a:ext cx="3382560" cy="143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Meshtastic permet surtout de la messagerie texte diffuse. En revanche, il ne fournit pas nativement de salons persistants, d’historique structuré ni d’organisation des échanges.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5"/>
          <p:cNvSpPr/>
          <p:nvPr/>
        </p:nvSpPr>
        <p:spPr>
          <a:xfrm>
            <a:off x="4526280" y="1325880"/>
            <a:ext cx="3245400" cy="196524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6"/>
          <p:cNvSpPr/>
          <p:nvPr/>
        </p:nvSpPr>
        <p:spPr>
          <a:xfrm>
            <a:off x="4663440" y="1463040"/>
            <a:ext cx="2971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Besoin identifié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7"/>
          <p:cNvSpPr/>
          <p:nvPr/>
        </p:nvSpPr>
        <p:spPr>
          <a:xfrm>
            <a:off x="4663440" y="1737360"/>
            <a:ext cx="2971080" cy="143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Permettre à des utilisateurs de créer des rooms, publier des messages et relire un historique, même après redémarrage du serveur.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8"/>
          <p:cNvSpPr/>
          <p:nvPr/>
        </p:nvSpPr>
        <p:spPr>
          <a:xfrm>
            <a:off x="8001000" y="1325880"/>
            <a:ext cx="3519720" cy="196524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9"/>
          <p:cNvSpPr/>
          <p:nvPr/>
        </p:nvSpPr>
        <p:spPr>
          <a:xfrm>
            <a:off x="8138160" y="1463040"/>
            <a:ext cx="3245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Contexte d’usage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10"/>
          <p:cNvSpPr/>
          <p:nvPr/>
        </p:nvSpPr>
        <p:spPr>
          <a:xfrm>
            <a:off x="8138160" y="1737360"/>
            <a:ext cx="3245400" cy="143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Scénarios à infrastructure limitée : terrain, zones isolées, environnement dégradé ou besoin d’un service compact autonome.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1"/>
          <p:cNvSpPr/>
          <p:nvPr/>
        </p:nvSpPr>
        <p:spPr>
          <a:xfrm>
            <a:off x="540000" y="3749040"/>
            <a:ext cx="1979640" cy="502200"/>
          </a:xfrm>
          <a:prstGeom prst="chevron">
            <a:avLst>
              <a:gd name="adj" fmla="val 50000"/>
            </a:avLst>
          </a:prstGeom>
          <a:solidFill>
            <a:srgbClr val="163a5f"/>
          </a:solidFill>
          <a:ln w="12700">
            <a:solidFill>
              <a:srgbClr val="16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12"/>
          <p:cNvSpPr/>
          <p:nvPr/>
        </p:nvSpPr>
        <p:spPr>
          <a:xfrm>
            <a:off x="2323080" y="3749040"/>
            <a:ext cx="1816560" cy="502200"/>
          </a:xfrm>
          <a:prstGeom prst="chevron">
            <a:avLst>
              <a:gd name="adj" fmla="val 50000"/>
            </a:avLst>
          </a:prstGeom>
          <a:solidFill>
            <a:srgbClr val="2f6fa3"/>
          </a:solidFill>
          <a:ln w="12700">
            <a:solidFill>
              <a:srgbClr val="2f6fa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13"/>
          <p:cNvSpPr/>
          <p:nvPr/>
        </p:nvSpPr>
        <p:spPr>
          <a:xfrm>
            <a:off x="3960000" y="3780000"/>
            <a:ext cx="1799640" cy="471240"/>
          </a:xfrm>
          <a:prstGeom prst="chevron">
            <a:avLst>
              <a:gd name="adj" fmla="val 50000"/>
            </a:avLst>
          </a:prstGeom>
          <a:solidFill>
            <a:srgbClr val="e58e26"/>
          </a:solidFill>
          <a:ln w="12700">
            <a:solidFill>
              <a:srgbClr val="e58e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14"/>
          <p:cNvSpPr/>
          <p:nvPr/>
        </p:nvSpPr>
        <p:spPr>
          <a:xfrm>
            <a:off x="710280" y="3924720"/>
            <a:ext cx="1233720" cy="9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Diffusion simple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15"/>
          <p:cNvSpPr/>
          <p:nvPr/>
        </p:nvSpPr>
        <p:spPr>
          <a:xfrm>
            <a:off x="2323440" y="3974400"/>
            <a:ext cx="1416600" cy="4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Besoin de structure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6"/>
          <p:cNvSpPr/>
          <p:nvPr/>
        </p:nvSpPr>
        <p:spPr>
          <a:xfrm>
            <a:off x="4247640" y="3854880"/>
            <a:ext cx="114228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Room Server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17"/>
          <p:cNvSpPr/>
          <p:nvPr/>
        </p:nvSpPr>
        <p:spPr>
          <a:xfrm>
            <a:off x="6432120" y="3520800"/>
            <a:ext cx="457128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1d2433"/>
                </a:solidFill>
                <a:latin typeface="Aptos"/>
              </a:rPr>
              <a:t>Ajouter une couche applicative sans modifier le protocole Meshtastic.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1d2433"/>
                </a:solidFill>
                <a:latin typeface="Aptos"/>
              </a:rPr>
              <a:t>Rester compatible avec du matériel standard : Raspberry Pi 3B + Wio-E5 Mini.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1d2433"/>
                </a:solidFill>
                <a:latin typeface="Aptos"/>
              </a:rPr>
              <a:t>Conserver une solution légère, démontrable et robuste.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sldNum" idx="6"/>
          </p:nvPr>
        </p:nvSpPr>
        <p:spPr>
          <a:xfrm>
            <a:off x="11750040" y="6583680"/>
            <a:ext cx="227880" cy="1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ffffff"/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67451B-4DD6-4B76-A111-CA42AFF7C311}" type="slidenum">
              <a:rPr b="0" lang="en-US" sz="1000" spc="-1" strike="noStrike">
                <a:solidFill>
                  <a:srgbClr val="ffffff"/>
                </a:solidFill>
                <a:latin typeface="Apto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1" name="Picture 1" descr=""/>
          <p:cNvPicPr/>
          <p:nvPr/>
        </p:nvPicPr>
        <p:blipFill>
          <a:blip r:embed="rId1"/>
          <a:stretch/>
        </p:blipFill>
        <p:spPr>
          <a:xfrm>
            <a:off x="1458720" y="4392720"/>
            <a:ext cx="2872080" cy="1913400"/>
          </a:xfrm>
          <a:prstGeom prst="rect">
            <a:avLst/>
          </a:prstGeom>
          <a:ln w="0">
            <a:noFill/>
          </a:ln>
          <a:effectLst>
            <a:outerShdw algn="tr" blurRad="50760" dir="8100000" dist="75858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6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502920" y="411480"/>
            <a:ext cx="7131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3a5f"/>
                </a:solidFill>
                <a:latin typeface="Aptos Display"/>
                <a:ea typeface="Aptos Display"/>
              </a:rPr>
              <a:t>Objectifs et périmètre fonctionnel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530280" y="841320"/>
            <a:ext cx="7954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d6b82"/>
                </a:solidFill>
                <a:latin typeface="Aptos"/>
              </a:rPr>
              <a:t>Ce que le système devait faire pendant le semestre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731520" y="1325880"/>
            <a:ext cx="3474000" cy="4479840"/>
          </a:xfrm>
          <a:prstGeom prst="roundRect">
            <a:avLst>
              <a:gd name="adj" fmla="val 1316"/>
            </a:avLst>
          </a:prstGeom>
          <a:solidFill>
            <a:srgbClr val="eaf2fb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868680" y="1463040"/>
            <a:ext cx="3199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Objectifs principaux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868680" y="1737360"/>
            <a:ext cx="3199680" cy="39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Interface par commandes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Persistance locale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Déploiement sur Raspberry Pi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Robustesse après reboot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Démonstrateur réel + documentation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Le choix a été de viser un noyau fonctionnel fiable avant toute extension.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4526280" y="1325880"/>
            <a:ext cx="6857280" cy="447984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4754880" y="1572840"/>
            <a:ext cx="50684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3a5f"/>
                </a:solidFill>
                <a:latin typeface="Aptos"/>
              </a:rPr>
              <a:t>Fonctionnalités réalisées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9" name="Table 0"/>
          <p:cNvGraphicFramePr/>
          <p:nvPr/>
        </p:nvGraphicFramePr>
        <p:xfrm>
          <a:off x="4709160" y="1938600"/>
          <a:ext cx="6400440" cy="3675960"/>
        </p:xfrm>
        <a:graphic>
          <a:graphicData uri="http://schemas.openxmlformats.org/drawingml/2006/table">
            <a:tbl>
              <a:tblPr/>
              <a:tblGrid>
                <a:gridCol w="1783080"/>
                <a:gridCol w="1097280"/>
                <a:gridCol w="3520440"/>
              </a:tblGrid>
              <a:tr h="4114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Create room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Implémenté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Création d’une room par nom unique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Annonce Messages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Implémenté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Diffusion d’un message global d’annonce à toutes les rooms / tous les utilisateurs selon votre logique serveur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List rooms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Implémenté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Retour de la liste des rooms stockées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Post message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Implémenté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Ajout d’un message dans une room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Read history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Implémenté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Lecture des N derniers messages avec limites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Help command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Implémenté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Résumé concis des commandes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56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Persistence after reboot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Implémenté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Données conservées après redémarrage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56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Room info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Implémenté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algn="l" pos="0"/>
                        </a:tabLst>
                      </a:pPr>
                      <a:r>
                        <a:rPr b="1" lang="en-US" sz="112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Affichage des informations d’une room (nom, description, métadonnées utiles)</a:t>
                      </a:r>
                      <a:endParaRPr b="0" lang="en-US" sz="11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PlaceHolder 1"/>
          <p:cNvSpPr>
            <a:spLocks noGrp="1"/>
          </p:cNvSpPr>
          <p:nvPr>
            <p:ph type="sldNum" idx="7"/>
          </p:nvPr>
        </p:nvSpPr>
        <p:spPr>
          <a:xfrm>
            <a:off x="11750040" y="6583680"/>
            <a:ext cx="227880" cy="1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ffffff"/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E397D9-6451-4025-A81D-4662946D0BDC}" type="slidenum">
              <a:rPr b="0" lang="en-US" sz="1000" spc="-1" strike="noStrike">
                <a:solidFill>
                  <a:srgbClr val="ffffff"/>
                </a:solidFill>
                <a:latin typeface="Apto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1" name="Picture 1" descr=""/>
          <p:cNvPicPr/>
          <p:nvPr/>
        </p:nvPicPr>
        <p:blipFill>
          <a:blip r:embed="rId1"/>
          <a:stretch/>
        </p:blipFill>
        <p:spPr>
          <a:xfrm>
            <a:off x="920880" y="3429000"/>
            <a:ext cx="1365120" cy="2049120"/>
          </a:xfrm>
          <a:prstGeom prst="rect">
            <a:avLst/>
          </a:prstGeom>
          <a:ln cap="sq" w="88900">
            <a:solidFill>
              <a:srgbClr val="ffffff"/>
            </a:solidFill>
            <a:miter/>
          </a:ln>
          <a:effectLst>
            <a:outerShdw algn="t" blurRad="50760" dir="5400000" dist="76320" rotWithShape="0">
              <a:srgbClr val="000000">
                <a:alpha val="40000"/>
              </a:srgbClr>
            </a:outerShdw>
          </a:effectLst>
          <a:scene3d>
            <a:camera prst="orthographicFront"/>
            <a:lightRig dir="t" rig="twoP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02920" y="411480"/>
            <a:ext cx="7131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3a5f"/>
                </a:solidFill>
                <a:latin typeface="Aptos Display"/>
                <a:ea typeface="Aptos Display"/>
              </a:rPr>
              <a:t>Architecture de la solution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530280" y="841320"/>
            <a:ext cx="7954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d6b82"/>
                </a:solidFill>
                <a:latin typeface="Aptos"/>
              </a:rPr>
              <a:t>Chaîne complète : client LoRa → Room Server → base SQLite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2"/>
          <p:cNvSpPr/>
          <p:nvPr/>
        </p:nvSpPr>
        <p:spPr>
          <a:xfrm>
            <a:off x="640080" y="1828800"/>
            <a:ext cx="1736640" cy="913680"/>
          </a:xfrm>
          <a:prstGeom prst="roundRect">
            <a:avLst>
              <a:gd name="adj" fmla="val 5000"/>
            </a:avLst>
          </a:prstGeom>
          <a:solidFill>
            <a:srgbClr val="eaf2fb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3"/>
          <p:cNvSpPr/>
          <p:nvPr/>
        </p:nvSpPr>
        <p:spPr>
          <a:xfrm>
            <a:off x="713160" y="2030040"/>
            <a:ext cx="1590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3a5f"/>
                </a:solidFill>
                <a:latin typeface="Aptos"/>
              </a:rPr>
              <a:t>Smartphone / client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2697480" y="1828800"/>
            <a:ext cx="1599480" cy="913680"/>
          </a:xfrm>
          <a:prstGeom prst="roundRect">
            <a:avLst>
              <a:gd name="adj" fmla="val 5000"/>
            </a:avLst>
          </a:prstGeom>
          <a:solidFill>
            <a:srgbClr val="eaf2fb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2770560" y="2030040"/>
            <a:ext cx="1453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3a5f"/>
                </a:solidFill>
                <a:latin typeface="Aptos"/>
              </a:rPr>
              <a:t>Noeud LoRa client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6"/>
          <p:cNvSpPr/>
          <p:nvPr/>
        </p:nvSpPr>
        <p:spPr>
          <a:xfrm>
            <a:off x="4617720" y="1828800"/>
            <a:ext cx="1828080" cy="913680"/>
          </a:xfrm>
          <a:prstGeom prst="roundRect">
            <a:avLst>
              <a:gd name="adj" fmla="val 5000"/>
            </a:avLst>
          </a:prstGeom>
          <a:solidFill>
            <a:srgbClr val="fff2e2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4690800" y="2030040"/>
            <a:ext cx="1681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3a5f"/>
                </a:solidFill>
                <a:latin typeface="Aptos"/>
              </a:rPr>
              <a:t>Noeud serveur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3a5f"/>
                </a:solidFill>
                <a:latin typeface="Aptos"/>
              </a:rPr>
              <a:t>Wio-E5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8"/>
          <p:cNvSpPr/>
          <p:nvPr/>
        </p:nvSpPr>
        <p:spPr>
          <a:xfrm>
            <a:off x="6812280" y="1828800"/>
            <a:ext cx="1828080" cy="913680"/>
          </a:xfrm>
          <a:prstGeom prst="roundRect">
            <a:avLst>
              <a:gd name="adj" fmla="val 5000"/>
            </a:avLst>
          </a:prstGeom>
          <a:solidFill>
            <a:srgbClr val="eaf7ef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9"/>
          <p:cNvSpPr/>
          <p:nvPr/>
        </p:nvSpPr>
        <p:spPr>
          <a:xfrm>
            <a:off x="6885360" y="2030040"/>
            <a:ext cx="1681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3a5f"/>
                </a:solidFill>
                <a:latin typeface="Aptos"/>
              </a:rPr>
              <a:t>Raspberry Pi 3B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0"/>
          <p:cNvSpPr/>
          <p:nvPr/>
        </p:nvSpPr>
        <p:spPr>
          <a:xfrm>
            <a:off x="9006840" y="1828800"/>
            <a:ext cx="2010960" cy="913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11"/>
          <p:cNvSpPr/>
          <p:nvPr/>
        </p:nvSpPr>
        <p:spPr>
          <a:xfrm>
            <a:off x="9079920" y="2030040"/>
            <a:ext cx="1864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3a5f"/>
                </a:solidFill>
                <a:latin typeface="Aptos"/>
              </a:rPr>
              <a:t>Application Python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3a5f"/>
                </a:solidFill>
                <a:latin typeface="Aptos"/>
              </a:rPr>
              <a:t>Room Server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2"/>
          <p:cNvSpPr/>
          <p:nvPr/>
        </p:nvSpPr>
        <p:spPr>
          <a:xfrm>
            <a:off x="2395800" y="2075760"/>
            <a:ext cx="456480" cy="328320"/>
          </a:xfrm>
          <a:prstGeom prst="chevron">
            <a:avLst>
              <a:gd name="adj" fmla="val 50000"/>
            </a:avLst>
          </a:prstGeom>
          <a:solidFill>
            <a:srgbClr val="2f6fa3"/>
          </a:solidFill>
          <a:ln w="12700">
            <a:solidFill>
              <a:srgbClr val="2f6fa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13"/>
          <p:cNvSpPr/>
          <p:nvPr/>
        </p:nvSpPr>
        <p:spPr>
          <a:xfrm>
            <a:off x="4316040" y="2075760"/>
            <a:ext cx="456480" cy="328320"/>
          </a:xfrm>
          <a:prstGeom prst="chevron">
            <a:avLst>
              <a:gd name="adj" fmla="val 50000"/>
            </a:avLst>
          </a:prstGeom>
          <a:solidFill>
            <a:srgbClr val="2f6fa3"/>
          </a:solidFill>
          <a:ln w="12700">
            <a:solidFill>
              <a:srgbClr val="2f6fa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14"/>
          <p:cNvSpPr/>
          <p:nvPr/>
        </p:nvSpPr>
        <p:spPr>
          <a:xfrm>
            <a:off x="6510600" y="2075760"/>
            <a:ext cx="456480" cy="328320"/>
          </a:xfrm>
          <a:prstGeom prst="chevron">
            <a:avLst>
              <a:gd name="adj" fmla="val 50000"/>
            </a:avLst>
          </a:prstGeom>
          <a:solidFill>
            <a:srgbClr val="2f6fa3"/>
          </a:solidFill>
          <a:ln w="12700">
            <a:solidFill>
              <a:srgbClr val="2f6fa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Shape 15"/>
          <p:cNvSpPr/>
          <p:nvPr/>
        </p:nvSpPr>
        <p:spPr>
          <a:xfrm>
            <a:off x="8705160" y="2075760"/>
            <a:ext cx="456480" cy="328320"/>
          </a:xfrm>
          <a:prstGeom prst="chevron">
            <a:avLst>
              <a:gd name="adj" fmla="val 50000"/>
            </a:avLst>
          </a:prstGeom>
          <a:solidFill>
            <a:srgbClr val="2f6fa3"/>
          </a:solidFill>
          <a:ln w="12700">
            <a:solidFill>
              <a:srgbClr val="2f6fa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16"/>
          <p:cNvSpPr/>
          <p:nvPr/>
        </p:nvSpPr>
        <p:spPr>
          <a:xfrm>
            <a:off x="4498920" y="3246120"/>
            <a:ext cx="2056680" cy="1050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4663440" y="3611880"/>
            <a:ext cx="1736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d2433"/>
                </a:solidFill>
                <a:latin typeface="Aptos"/>
              </a:rPr>
              <a:t>Meshtastic serial interface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18"/>
          <p:cNvSpPr/>
          <p:nvPr/>
        </p:nvSpPr>
        <p:spPr>
          <a:xfrm>
            <a:off x="7086600" y="3246120"/>
            <a:ext cx="1965240" cy="1050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9"/>
          <p:cNvSpPr/>
          <p:nvPr/>
        </p:nvSpPr>
        <p:spPr>
          <a:xfrm>
            <a:off x="7269480" y="3611880"/>
            <a:ext cx="1599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d2433"/>
                </a:solidFill>
                <a:latin typeface="Aptos"/>
              </a:rPr>
              <a:t>Parser + RoomManager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0"/>
          <p:cNvSpPr/>
          <p:nvPr/>
        </p:nvSpPr>
        <p:spPr>
          <a:xfrm>
            <a:off x="9555480" y="3246120"/>
            <a:ext cx="1782360" cy="1050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21"/>
          <p:cNvSpPr/>
          <p:nvPr/>
        </p:nvSpPr>
        <p:spPr>
          <a:xfrm>
            <a:off x="9875520" y="358452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3a5f"/>
                </a:solidFill>
                <a:latin typeface="Aptos"/>
              </a:rPr>
              <a:t>SQLite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2"/>
          <p:cNvSpPr/>
          <p:nvPr/>
        </p:nvSpPr>
        <p:spPr>
          <a:xfrm>
            <a:off x="6565320" y="3657600"/>
            <a:ext cx="365040" cy="255240"/>
          </a:xfrm>
          <a:prstGeom prst="chevron">
            <a:avLst>
              <a:gd name="adj" fmla="val 50000"/>
            </a:avLst>
          </a:prstGeom>
          <a:solidFill>
            <a:srgbClr val="e58e26"/>
          </a:solidFill>
          <a:ln w="12700">
            <a:solidFill>
              <a:srgbClr val="e58e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Shape 23"/>
          <p:cNvSpPr/>
          <p:nvPr/>
        </p:nvSpPr>
        <p:spPr>
          <a:xfrm>
            <a:off x="9098280" y="3657600"/>
            <a:ext cx="365040" cy="255240"/>
          </a:xfrm>
          <a:prstGeom prst="chevron">
            <a:avLst>
              <a:gd name="adj" fmla="val 50000"/>
            </a:avLst>
          </a:prstGeom>
          <a:solidFill>
            <a:srgbClr val="e58e26"/>
          </a:solidFill>
          <a:ln w="12700">
            <a:solidFill>
              <a:srgbClr val="e58e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24"/>
          <p:cNvSpPr/>
          <p:nvPr/>
        </p:nvSpPr>
        <p:spPr>
          <a:xfrm>
            <a:off x="4498920" y="4773240"/>
            <a:ext cx="10332000" cy="10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550" spc="-1" strike="noStrike">
                <a:solidFill>
                  <a:srgbClr val="1d2433"/>
                </a:solidFill>
                <a:latin typeface="Aptos"/>
              </a:rPr>
              <a:t>Architecture modulaire : transport, parsing, logique métier, persistance.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550" spc="-1" strike="noStrike">
                <a:solidFill>
                  <a:srgbClr val="1d2433"/>
                </a:solidFill>
                <a:latin typeface="Aptos"/>
              </a:rPr>
              <a:t>Pas de modification du protocole radio : la valeur est ajoutée côté application.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550" spc="-1" strike="noStrike">
                <a:solidFill>
                  <a:srgbClr val="1d2433"/>
                </a:solidFill>
                <a:latin typeface="Aptos"/>
              </a:rPr>
              <a:t>Déploiement réel sur matériel embarqué.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sldNum" idx="8"/>
          </p:nvPr>
        </p:nvSpPr>
        <p:spPr>
          <a:xfrm>
            <a:off x="11750040" y="6583680"/>
            <a:ext cx="227880" cy="1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ffffff"/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B45D52-868E-4D6C-B56B-41A3FD007B65}" type="slidenum">
              <a:rPr b="0" lang="en-US" sz="1000" spc="-1" strike="noStrike">
                <a:solidFill>
                  <a:srgbClr val="ffffff"/>
                </a:solidFill>
                <a:latin typeface="Apto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8" name="Picture 3" descr=""/>
          <p:cNvPicPr/>
          <p:nvPr/>
        </p:nvPicPr>
        <p:blipFill>
          <a:blip r:embed="rId1"/>
          <a:stretch/>
        </p:blipFill>
        <p:spPr>
          <a:xfrm>
            <a:off x="427680" y="2989800"/>
            <a:ext cx="3895920" cy="3083760"/>
          </a:xfrm>
          <a:prstGeom prst="rect">
            <a:avLst/>
          </a:prstGeom>
          <a:ln w="0">
            <a:noFill/>
          </a:ln>
          <a:effectLst>
            <a:outerShdw algn="r" blurRad="50760" dir="10800000" dist="76320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502920" y="411480"/>
            <a:ext cx="7131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3a5f"/>
                </a:solidFill>
                <a:latin typeface="Aptos Display"/>
                <a:ea typeface="Aptos Display"/>
              </a:rPr>
              <a:t>Fonctionnement logiciel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530280" y="841320"/>
            <a:ext cx="7954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d6b82"/>
                </a:solidFill>
                <a:latin typeface="Aptos"/>
              </a:rPr>
              <a:t>Modules principaux et rôle de chaque composant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1" name="Table 0"/>
          <p:cNvGraphicFramePr/>
          <p:nvPr/>
        </p:nvGraphicFramePr>
        <p:xfrm>
          <a:off x="731520" y="1463040"/>
          <a:ext cx="6400440" cy="3711960"/>
        </p:xfrm>
        <a:graphic>
          <a:graphicData uri="http://schemas.openxmlformats.org/drawingml/2006/table">
            <a:tbl>
              <a:tblPr/>
              <a:tblGrid>
                <a:gridCol w="1691640"/>
                <a:gridCol w="4709160"/>
              </a:tblGrid>
              <a:tr h="5302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main.py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Orchestrateur : initialise DB, RoomManager et connexion matérielle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2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parser.py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Analyse la syntaxe des commandes /room et extrait les arguments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2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room_manager.py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Cœur métier : rooms, anti-spam, formatage, lecture et écriture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2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database.py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Stockage SQLite : tables rooms/messages et opérations CRUD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2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meshtastic_comm_hw.py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Interface réelle avec le module LoRa via /dev/ttyUSB*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2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client.py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Client de test pour envoyer les commandes au serveur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28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logger.py / reset_db.py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Supervision, debugging et maintenance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" name="Shape 2"/>
          <p:cNvSpPr/>
          <p:nvPr/>
        </p:nvSpPr>
        <p:spPr>
          <a:xfrm>
            <a:off x="7726680" y="1508760"/>
            <a:ext cx="3565440" cy="13251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"/>
          <p:cNvSpPr/>
          <p:nvPr/>
        </p:nvSpPr>
        <p:spPr>
          <a:xfrm>
            <a:off x="7863840" y="1645920"/>
            <a:ext cx="3291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Structure choisie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7863840" y="1920240"/>
            <a:ext cx="329112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Chaque module a une responsabilité claire. Cela facilite les tests, le debug et la maintenance.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5"/>
          <p:cNvSpPr/>
          <p:nvPr/>
        </p:nvSpPr>
        <p:spPr>
          <a:xfrm>
            <a:off x="7726680" y="3017520"/>
            <a:ext cx="3565440" cy="1325160"/>
          </a:xfrm>
          <a:prstGeom prst="roundRect">
            <a:avLst>
              <a:gd name="adj" fmla="val 3448"/>
            </a:avLst>
          </a:prstGeom>
          <a:solidFill>
            <a:srgbClr val="eaf7ef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7863840" y="3154680"/>
            <a:ext cx="3291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Persistance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7"/>
          <p:cNvSpPr/>
          <p:nvPr/>
        </p:nvSpPr>
        <p:spPr>
          <a:xfrm>
            <a:off x="7863840" y="3429000"/>
            <a:ext cx="329112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SQLite a été retenu pour ses transactions atomiques et sa meilleure robustesse qu’un simple fichier JSON.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8"/>
          <p:cNvSpPr/>
          <p:nvPr/>
        </p:nvSpPr>
        <p:spPr>
          <a:xfrm>
            <a:off x="7726680" y="4526280"/>
            <a:ext cx="3565440" cy="1325160"/>
          </a:xfrm>
          <a:prstGeom prst="roundRect">
            <a:avLst>
              <a:gd name="adj" fmla="val 3448"/>
            </a:avLst>
          </a:prstGeom>
          <a:solidFill>
            <a:srgbClr val="fff2e2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7863840" y="4663440"/>
            <a:ext cx="3291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Contributions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7863840" y="4937760"/>
            <a:ext cx="329112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Adam : parsing, hardware comm, client, orchestration.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Arhan : DB, room management, simulation, logging, maintenance.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1"/>
          <p:cNvSpPr>
            <a:spLocks noGrp="1"/>
          </p:cNvSpPr>
          <p:nvPr>
            <p:ph type="sldNum" idx="9"/>
          </p:nvPr>
        </p:nvSpPr>
        <p:spPr>
          <a:xfrm>
            <a:off x="11750040" y="6583680"/>
            <a:ext cx="227880" cy="1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ffffff"/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FAD797-86F1-493A-82BE-88A24458FA47}" type="slidenum">
              <a:rPr b="0" lang="en-US" sz="1000" spc="-1" strike="noStrike">
                <a:solidFill>
                  <a:srgbClr val="ffffff"/>
                </a:solidFill>
                <a:latin typeface="Apto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125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502920" y="411480"/>
            <a:ext cx="7131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3a5f"/>
                </a:solidFill>
                <a:latin typeface="Aptos Display"/>
                <a:ea typeface="Aptos Display"/>
              </a:rPr>
              <a:t>Contraintes LoRa et choix techniques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530280" y="841320"/>
            <a:ext cx="7954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d6b82"/>
                </a:solidFill>
                <a:latin typeface="Aptos"/>
              </a:rPr>
              <a:t>Les compromis qui ont guidé l’implémentation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2"/>
          <p:cNvSpPr/>
          <p:nvPr/>
        </p:nvSpPr>
        <p:spPr>
          <a:xfrm>
            <a:off x="685800" y="1417320"/>
            <a:ext cx="3565440" cy="1416600"/>
          </a:xfrm>
          <a:prstGeom prst="roundRect">
            <a:avLst>
              <a:gd name="adj" fmla="val 3226"/>
            </a:avLst>
          </a:prstGeom>
          <a:solidFill>
            <a:srgbClr val="fff2e2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822960" y="1554480"/>
            <a:ext cx="3291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Payload limité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822960" y="1828800"/>
            <a:ext cx="32911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Les réponses doivent rester courtes pour éviter la saturation radio et limiter les pertes.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"/>
          <p:cNvSpPr/>
          <p:nvPr/>
        </p:nvSpPr>
        <p:spPr>
          <a:xfrm>
            <a:off x="685800" y="3063240"/>
            <a:ext cx="3565440" cy="1416600"/>
          </a:xfrm>
          <a:prstGeom prst="roundRect">
            <a:avLst>
              <a:gd name="adj" fmla="val 3226"/>
            </a:avLst>
          </a:prstGeom>
          <a:solidFill>
            <a:srgbClr val="fff2e2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822960" y="3200400"/>
            <a:ext cx="3291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Faible bande passante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822960" y="3474720"/>
            <a:ext cx="32911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La lecture d’historique est volontairement limitée et les réponses longues sont découpées.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8"/>
          <p:cNvSpPr/>
          <p:nvPr/>
        </p:nvSpPr>
        <p:spPr>
          <a:xfrm>
            <a:off x="685800" y="4709160"/>
            <a:ext cx="3565440" cy="1005120"/>
          </a:xfrm>
          <a:prstGeom prst="roundRect">
            <a:avLst>
              <a:gd name="adj" fmla="val 4545"/>
            </a:avLst>
          </a:prstGeom>
          <a:solidFill>
            <a:srgbClr val="fff2e2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822960" y="4846320"/>
            <a:ext cx="3291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Interférences réseau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822960" y="5120640"/>
            <a:ext cx="32911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Utilisation d’un canal privé avec PSK dédiée pour isoler les tests.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11"/>
          <p:cNvSpPr/>
          <p:nvPr/>
        </p:nvSpPr>
        <p:spPr>
          <a:xfrm>
            <a:off x="4663440" y="1371600"/>
            <a:ext cx="6811560" cy="452556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12"/>
          <p:cNvSpPr/>
          <p:nvPr/>
        </p:nvSpPr>
        <p:spPr>
          <a:xfrm>
            <a:off x="4892040" y="1645920"/>
            <a:ext cx="4520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3a5f"/>
                </a:solidFill>
                <a:latin typeface="Aptos"/>
              </a:rPr>
              <a:t>Réponses apportées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4846320" y="2272320"/>
            <a:ext cx="6217200" cy="265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Commandes courtes : /room create, /room list, /room post, /room read,/room info, /room annonce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Chunking des messages trop longs pour améliorer la lisibilité et réduire le risque de perte.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Messages administratifs envoyés en privé quand c’est pertinent.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systemd pour redémarrage automatique au boot ou après échec.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Surveillance du matériel et stratégie de reprise après déconnexion USB.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4937760" y="4983480"/>
            <a:ext cx="61257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f6fa3"/>
                </a:solidFill>
                <a:latin typeface="Aptos"/>
              </a:rPr>
              <a:t>Idée clé : dans un environnement contraint, la valeur vient moins de la complexité que du bon compromis entre simplicité, robustesse et démontrabilité.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sldNum" idx="10"/>
          </p:nvPr>
        </p:nvSpPr>
        <p:spPr>
          <a:xfrm>
            <a:off x="11750040" y="6583680"/>
            <a:ext cx="227880" cy="1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ffffff"/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543BA4-B5A9-4B68-89CB-03A3E08CF2C1}" type="slidenum">
              <a:rPr b="0" lang="en-US" sz="1000" spc="-1" strike="noStrike">
                <a:solidFill>
                  <a:srgbClr val="ffffff"/>
                </a:solidFill>
                <a:latin typeface="Apto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502920" y="411480"/>
            <a:ext cx="7131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3a5f"/>
                </a:solidFill>
                <a:latin typeface="Aptos Display"/>
                <a:ea typeface="Aptos Display"/>
              </a:rPr>
              <a:t>Validation et démonstration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530280" y="841320"/>
            <a:ext cx="7954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d6b82"/>
                </a:solidFill>
                <a:latin typeface="Aptos"/>
              </a:rPr>
              <a:t>Ce qui a été effectivement testé sur le démonstrateur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0" name="Table 0"/>
          <p:cNvGraphicFramePr/>
          <p:nvPr/>
        </p:nvGraphicFramePr>
        <p:xfrm>
          <a:off x="731520" y="1600200"/>
          <a:ext cx="6217560" cy="3049200"/>
        </p:xfrm>
        <a:graphic>
          <a:graphicData uri="http://schemas.openxmlformats.org/drawingml/2006/table">
            <a:tbl>
              <a:tblPr/>
              <a:tblGrid>
                <a:gridCol w="1600200"/>
                <a:gridCol w="3611880"/>
                <a:gridCol w="1005840"/>
              </a:tblGrid>
              <a:tr h="50292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Créer une room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Commande exécutée et accusé de réception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Validé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Poster un message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Message stocké dans la bonne room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Validé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Lire l’historique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Retour des derniers messages formatés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Validé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Redémarrer le serveur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Données toujours présentes après reboot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Validé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Débrancher le module USB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Sortie propre puis relance via systemd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Validé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Canal privé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Isolation par rapport au trafic public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5720" rIns="457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30" spc="-1" strike="noStrike">
                          <a:solidFill>
                            <a:srgbClr val="1d2433"/>
                          </a:solidFill>
                          <a:latin typeface="Aptos"/>
                        </a:rPr>
                        <a:t>Validé</a:t>
                      </a:r>
                      <a:endParaRPr b="0" lang="en-US" sz="123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45720" marR="45720">
                    <a:lnL w="12240">
                      <a:solidFill>
                        <a:srgbClr val="d8e0ea"/>
                      </a:solidFill>
                      <a:prstDash val="solid"/>
                    </a:lnL>
                    <a:lnR w="12240">
                      <a:solidFill>
                        <a:srgbClr val="d8e0ea"/>
                      </a:solidFill>
                      <a:prstDash val="solid"/>
                    </a:lnR>
                    <a:lnT w="12240">
                      <a:solidFill>
                        <a:srgbClr val="d8e0ea"/>
                      </a:solidFill>
                      <a:prstDash val="solid"/>
                    </a:lnT>
                    <a:lnB w="12240">
                      <a:solidFill>
                        <a:srgbClr val="d8e0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Shape 2"/>
          <p:cNvSpPr/>
          <p:nvPr/>
        </p:nvSpPr>
        <p:spPr>
          <a:xfrm>
            <a:off x="7543800" y="1645920"/>
            <a:ext cx="3656880" cy="13251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7680960" y="1783080"/>
            <a:ext cx="3382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Stratégie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7680960" y="2057400"/>
            <a:ext cx="338256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Validation progressive : d’abord en environnement mock, puis sur matériel réel.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>
            <a:off x="7543800" y="3200400"/>
            <a:ext cx="3656880" cy="1325160"/>
          </a:xfrm>
          <a:prstGeom prst="roundRect">
            <a:avLst>
              <a:gd name="adj" fmla="val 3448"/>
            </a:avLst>
          </a:prstGeom>
          <a:solidFill>
            <a:srgbClr val="eaf7ef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7680960" y="3337560"/>
            <a:ext cx="3382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Résultat principal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7680960" y="3611880"/>
            <a:ext cx="338256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Le projet a démontré qu’un nœud Raspberry Pi peut étendre Meshtastic avec des rooms persistantes et une reprise contrôlée après panne.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8"/>
          <p:cNvSpPr/>
          <p:nvPr/>
        </p:nvSpPr>
        <p:spPr>
          <a:xfrm>
            <a:off x="7543800" y="4754880"/>
            <a:ext cx="3656880" cy="1050840"/>
          </a:xfrm>
          <a:prstGeom prst="roundRect">
            <a:avLst>
              <a:gd name="adj" fmla="val 4348"/>
            </a:avLst>
          </a:prstGeom>
          <a:solidFill>
            <a:srgbClr val="fff2e2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9"/>
          <p:cNvSpPr/>
          <p:nvPr/>
        </p:nvSpPr>
        <p:spPr>
          <a:xfrm>
            <a:off x="7680960" y="4892040"/>
            <a:ext cx="3382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Limite assumée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10"/>
          <p:cNvSpPr/>
          <p:nvPr/>
        </p:nvSpPr>
        <p:spPr>
          <a:xfrm>
            <a:off x="7680960" y="5166360"/>
            <a:ext cx="3382560" cy="52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La campagne est surtout qualitative : peu de mesures massives de latence multi-clients.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1"/>
          <p:cNvSpPr>
            <a:spLocks noGrp="1"/>
          </p:cNvSpPr>
          <p:nvPr>
            <p:ph type="sldNum" idx="11"/>
          </p:nvPr>
        </p:nvSpPr>
        <p:spPr>
          <a:xfrm>
            <a:off x="11750040" y="6583680"/>
            <a:ext cx="227880" cy="1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ffffff"/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1CCDC2-4143-47C3-B860-97C9A46843D1}" type="slidenum">
              <a:rPr b="0" lang="en-US" sz="1000" spc="-1" strike="noStrike">
                <a:solidFill>
                  <a:srgbClr val="ffffff"/>
                </a:solidFill>
                <a:latin typeface="Apto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502920" y="411480"/>
            <a:ext cx="7131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3a5f"/>
                </a:solidFill>
                <a:latin typeface="Aptos Display"/>
                <a:ea typeface="Aptos Display"/>
              </a:rPr>
              <a:t>Bilan, apport et perspectives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530280" y="841320"/>
            <a:ext cx="7954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d6b82"/>
                </a:solidFill>
                <a:latin typeface="Aptos"/>
              </a:rPr>
              <a:t>Ce que le projet prouve et ce qu’il reste à faire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731520" y="1417320"/>
            <a:ext cx="3474000" cy="1828080"/>
          </a:xfrm>
          <a:prstGeom prst="roundRect">
            <a:avLst>
              <a:gd name="adj" fmla="val 2500"/>
            </a:avLst>
          </a:prstGeom>
          <a:solidFill>
            <a:srgbClr val="eaf7ef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868680" y="1554480"/>
            <a:ext cx="3199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Bilan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868680" y="1828800"/>
            <a:ext cx="3199680" cy="12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Le cœur fonctionnel demandé a été réalisé : rooms, messages persistants, lecture d’historique, robustesse après redémarrage et déploiement embarqué.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5"/>
          <p:cNvSpPr/>
          <p:nvPr/>
        </p:nvSpPr>
        <p:spPr>
          <a:xfrm>
            <a:off x="731520" y="3612240"/>
            <a:ext cx="3474000" cy="1828080"/>
          </a:xfrm>
          <a:prstGeom prst="roundRect">
            <a:avLst>
              <a:gd name="adj" fmla="val 2500"/>
            </a:avLst>
          </a:prstGeom>
          <a:solidFill>
            <a:srgbClr val="eaf2fb"/>
          </a:solidFill>
          <a:ln w="12700">
            <a:solidFill>
              <a:srgbClr val="d8e0ea"/>
            </a:solidFill>
            <a:round/>
          </a:ln>
          <a:effectLst>
            <a:outerShdw algn="bl" blurRad="12600" dir="2700000" dist="6109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868680" y="3832920"/>
            <a:ext cx="3199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3a5f"/>
                </a:solidFill>
                <a:latin typeface="Aptos"/>
              </a:rPr>
              <a:t>Apport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868680" y="4177800"/>
            <a:ext cx="3199680" cy="13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2433"/>
                </a:solidFill>
                <a:latin typeface="Aptos"/>
              </a:rPr>
              <a:t>Le Room Server apporte une organisation structurée des échanges au-dessus d’un réseau initialement orienté diffusion simple.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4572000" y="1417320"/>
            <a:ext cx="6765840" cy="397692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2700">
            <a:solidFill>
              <a:srgbClr val="d8e0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4800600" y="1719000"/>
            <a:ext cx="40330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163a5f"/>
                </a:solidFill>
                <a:latin typeface="Aptos"/>
              </a:rPr>
              <a:t>Perspectives d’évolution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4800600" y="2057400"/>
            <a:ext cx="6034320" cy="23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Gestion des droits et rooms privées.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Interface web locale hébergée sur le Raspberry Pi.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Synchronisation entre plusieurs Room Servers.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Tableau de bord de supervision et statistiques d’usage.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d2433"/>
                </a:solidFill>
                <a:latin typeface="Aptos"/>
              </a:rPr>
              <a:t>Mesures quantitatives plus poussées sous charge contrôlée.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11"/>
          <p:cNvSpPr/>
          <p:nvPr/>
        </p:nvSpPr>
        <p:spPr>
          <a:xfrm>
            <a:off x="4800600" y="4709160"/>
            <a:ext cx="4985640" cy="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58e26"/>
                </a:solidFill>
                <a:latin typeface="Aptos"/>
              </a:rPr>
              <a:t>Merci pour votre attention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4800600" y="507492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sldNum" idx="12"/>
          </p:nvPr>
        </p:nvSpPr>
        <p:spPr>
          <a:xfrm>
            <a:off x="11750040" y="6583680"/>
            <a:ext cx="227880" cy="1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ffffff"/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73E702-7445-4A36-AEA8-BC9CA26F1E75}" type="slidenum">
              <a:rPr b="0" lang="en-US" sz="1000" spc="-1" strike="noStrike">
                <a:solidFill>
                  <a:srgbClr val="ffffff"/>
                </a:solidFill>
                <a:latin typeface="Apto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5" name="Graphic 1" descr="Winking face with solid fill with solid fill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915400" y="4407480"/>
            <a:ext cx="621720" cy="621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Application>LibreOffice/24.2.7.2$Linux_X86_64 LibreOffice_project/420$Build-2</Application>
  <AppVersion>15.0000</AppVersion>
  <Words>0</Words>
  <Paragraphs>0</Paragraphs>
  <Company>OpenAI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2026-03-27T11:02:59Z</dcterms:created>
  <dc:creator>OpenAI</dc:creator>
  <dc:description/>
  <dc:language>fr-FR</dc:language>
  <cp:lastModifiedBy/>
  <dcterms:modified xsi:type="dcterms:W3CDTF">2026-03-27T14:02:39Z</dcterms:modified>
  <cp:revision>7</cp:revision>
  <dc:subject>Room Server - Soutenance S8</dc:subject>
  <dc:title>Room Server - Soutenance S8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Widescreen</vt:lpwstr>
  </property>
  <property fmtid="{D5CDD505-2E9C-101B-9397-08002B2CF9AE}" pid="4" name="Slides">
    <vt:i4>8</vt:i4>
  </property>
</Properties>
</file>