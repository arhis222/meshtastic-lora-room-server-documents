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Cliquez pour </a:t>
            </a: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déplacer la </a:t>
            </a: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diapo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C973804-7D39-4B95-81C3-CAD9B63D237E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Final report provided by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user: project title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page, abstract, sections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2, 6, 7, 8, 9, 10.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[/Sources]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456AE7-5ABE-490C-97A4-5BAE96174EB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Final report: sections 1, 2.1,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2.2, 2.3, 9.1, 10.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[/Sources]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596BA9-0678-4154-B074-7E80ECE362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Final report: sections 2.2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2.3.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[/Sources]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79A69F-6385-4685-BDFF-ED009D35B2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Final report: sections 6.1,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6.2, 6.3, 6.6 and figure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descriptions for Figures 2,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3, 4.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[/Sources]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F07F3D-F53A-4D38-87E3-45A7455B79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Final report: sections 3.2,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6.3, 6.4, 6.6.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[/Sources]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4E247A-2BA9-48A2-87FF-C50292F8FA9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Final report: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sections 5.1,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5.2, 5.3, 7.3,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7.4, 10.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[/Sources]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36B0FC-31D9-4CE9-84BC-9D90821FB12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Final report: sections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8.1, 8.2, 8.3, 8.4.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[/Sources]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41FA57-B4B1-4F37-827F-E4DFB6B6B06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Final report: sections 9.1,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9.2, 9.3, 10.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[/Sources]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BB5CCD-54F0-4F2F-B23E-504076425E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7561D7F-248A-4CAB-9835-38E0068DA52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88520" cy="20088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6565320"/>
            <a:ext cx="12188520" cy="2923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365760" y="6583680"/>
            <a:ext cx="4114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ptos"/>
              </a:rPr>
              <a:t>INFO4 · Polytech Grenoble · S8 Project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 3"/>
          <p:cNvSpPr/>
          <p:nvPr/>
        </p:nvSpPr>
        <p:spPr>
          <a:xfrm>
            <a:off x="10058400" y="658368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9e4f2"/>
                </a:solidFill>
                <a:latin typeface="Aptos"/>
              </a:rPr>
              <a:t>Room Server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sldNum" idx="1"/>
          </p:nvPr>
        </p:nvSpPr>
        <p:spPr>
          <a:xfrm>
            <a:off x="11750040" y="6583680"/>
            <a:ext cx="22824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786463-AFAA-49E7-A5B7-2D7AF0C8483D}" type="slidenum">
              <a:rPr b="0" lang="en-US" sz="1000" spc="-1" strike="noStrike">
                <a:solidFill>
                  <a:srgbClr val="ffffff"/>
                </a:solidFill>
                <a:latin typeface="Aptos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Cliquez pour éditer le format du texte-titre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Aptos"/>
              </a:rPr>
              <a:t>Cliquez pour éditer le format du plan de texte</a:t>
            </a:r>
            <a:endParaRPr b="0" lang="fr-FR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chemeClr val="dk1"/>
                </a:solidFill>
                <a:latin typeface="Aptos"/>
              </a:rPr>
              <a:t>Second niveau de plan</a:t>
            </a:r>
            <a:endParaRPr b="0" lang="fr-FR" sz="24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Troisième niveau de plan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Quatrième niveau de plan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Cinquième niveau de plan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Sixième niveau de plan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Septième niveau de plan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594360" y="1143000"/>
            <a:ext cx="10972440" cy="4388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1"/>
          <p:cNvSpPr/>
          <p:nvPr/>
        </p:nvSpPr>
        <p:spPr>
          <a:xfrm>
            <a:off x="594360" y="1143000"/>
            <a:ext cx="200880" cy="4388760"/>
          </a:xfrm>
          <a:prstGeom prst="rect">
            <a:avLst/>
          </a:prstGeom>
          <a:solidFill>
            <a:srgbClr val="e58e26"/>
          </a:solidFill>
          <a:ln w="12700">
            <a:solidFill>
              <a:srgbClr val="e58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960120" y="1554480"/>
            <a:ext cx="6217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63a5f"/>
                </a:solidFill>
                <a:latin typeface="Aptos Display"/>
                <a:ea typeface="Aptos Display"/>
              </a:rPr>
              <a:t>Meshtastic LoRa Room Server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987480" y="224028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f6fa3"/>
                </a:solidFill>
                <a:latin typeface="Aptos"/>
              </a:rPr>
              <a:t>Soutenance finale · Projet Semestre S8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4"/>
          <p:cNvSpPr/>
          <p:nvPr/>
        </p:nvSpPr>
        <p:spPr>
          <a:xfrm>
            <a:off x="987480" y="2788920"/>
            <a:ext cx="5668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d2433"/>
                </a:solidFill>
                <a:latin typeface="Aptos"/>
              </a:rPr>
              <a:t>Objectif : ajouter une couche applicative de salons persistants au-dessus du réseau mesh Meshtastic, avec une architecture légère, robuste et adaptée aux contraintes LoRa.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987480" y="4069080"/>
            <a:ext cx="1508400" cy="319680"/>
          </a:xfrm>
          <a:prstGeom prst="roundRect">
            <a:avLst>
              <a:gd name="adj" fmla="val 22857"/>
            </a:avLst>
          </a:prstGeom>
          <a:solidFill>
            <a:srgbClr val="163a5f"/>
          </a:solidFill>
          <a:ln w="12700">
            <a:solidFill>
              <a:srgbClr val="16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1060560" y="4123800"/>
            <a:ext cx="1362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INFO4 2025-2026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7"/>
          <p:cNvSpPr/>
          <p:nvPr/>
        </p:nvSpPr>
        <p:spPr>
          <a:xfrm>
            <a:off x="2633400" y="4069080"/>
            <a:ext cx="1416960" cy="319680"/>
          </a:xfrm>
          <a:prstGeom prst="roundRect">
            <a:avLst>
              <a:gd name="adj" fmla="val 22857"/>
            </a:avLst>
          </a:prstGeom>
          <a:solidFill>
            <a:srgbClr val="2f6fa3"/>
          </a:solidFill>
          <a:ln w="12700">
            <a:solidFill>
              <a:srgbClr val="2f6f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8"/>
          <p:cNvSpPr/>
          <p:nvPr/>
        </p:nvSpPr>
        <p:spPr>
          <a:xfrm>
            <a:off x="2706480" y="4123800"/>
            <a:ext cx="1270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Polytech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9"/>
          <p:cNvSpPr/>
          <p:nvPr/>
        </p:nvSpPr>
        <p:spPr>
          <a:xfrm>
            <a:off x="4187880" y="4069080"/>
            <a:ext cx="1965600" cy="319680"/>
          </a:xfrm>
          <a:prstGeom prst="roundRect">
            <a:avLst>
              <a:gd name="adj" fmla="val 22857"/>
            </a:avLst>
          </a:prstGeom>
          <a:solidFill>
            <a:srgbClr val="e58e26"/>
          </a:solidFill>
          <a:ln w="12700">
            <a:solidFill>
              <a:srgbClr val="e58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4260960" y="4123800"/>
            <a:ext cx="1819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Francois Letellier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1"/>
          <p:cNvSpPr/>
          <p:nvPr/>
        </p:nvSpPr>
        <p:spPr>
          <a:xfrm>
            <a:off x="7315200" y="1554480"/>
            <a:ext cx="3611520" cy="3200040"/>
          </a:xfrm>
          <a:prstGeom prst="roundRect">
            <a:avLst>
              <a:gd name="adj" fmla="val 1714"/>
            </a:avLst>
          </a:prstGeom>
          <a:solidFill>
            <a:srgbClr val="eaf2fb"/>
          </a:solidFill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7589520" y="19202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3a5f"/>
                </a:solidFill>
                <a:latin typeface="Aptos"/>
              </a:rPr>
              <a:t>Équipe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7589520" y="2331720"/>
            <a:ext cx="2102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d2433"/>
                </a:solidFill>
                <a:latin typeface="Aptos"/>
              </a:rPr>
              <a:t>TAWFIK Adam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d2433"/>
                </a:solidFill>
                <a:latin typeface="Aptos"/>
              </a:rPr>
              <a:t>UNAY Arhan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4"/>
          <p:cNvSpPr/>
          <p:nvPr/>
        </p:nvSpPr>
        <p:spPr>
          <a:xfrm>
            <a:off x="7589520" y="37947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5d6b82"/>
                </a:solidFill>
                <a:latin typeface="Aptos"/>
              </a:rPr>
              <a:t>Mars 2026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6"/>
          <p:cNvSpPr/>
          <p:nvPr/>
        </p:nvSpPr>
        <p:spPr>
          <a:xfrm>
            <a:off x="10195560" y="2148840"/>
            <a:ext cx="822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sldNum" idx="5"/>
          </p:nvPr>
        </p:nvSpPr>
        <p:spPr>
          <a:xfrm>
            <a:off x="11750040" y="6583680"/>
            <a:ext cx="22824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037EF-8022-48D2-919A-1284802A2A79}" type="slidenum">
              <a:rPr b="0" lang="en-US" sz="1000" spc="-1" strike="noStrike">
                <a:solidFill>
                  <a:srgbClr val="ffffff"/>
                </a:solidFill>
                <a:latin typeface="Aptos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502920" y="41148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63a5f"/>
                </a:solidFill>
                <a:latin typeface="Aptos Display"/>
                <a:ea typeface="Aptos Display"/>
              </a:rPr>
              <a:t>Contexte et besoin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530280" y="841320"/>
            <a:ext cx="795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d6b82"/>
                </a:solidFill>
                <a:latin typeface="Aptos"/>
              </a:rPr>
              <a:t>Pourquoi ce projet est utile dans un réseau LoRa mesh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2"/>
          <p:cNvSpPr/>
          <p:nvPr/>
        </p:nvSpPr>
        <p:spPr>
          <a:xfrm>
            <a:off x="640080" y="1325880"/>
            <a:ext cx="3657240" cy="19656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777240" y="1463040"/>
            <a:ext cx="3382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3a5f"/>
                </a:solidFill>
                <a:latin typeface="Aptos"/>
              </a:rPr>
              <a:t>Constat initial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777240" y="1737360"/>
            <a:ext cx="3382920" cy="143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Meshtastic permet surtout de la messagerie texte diffuse. En revanche, il ne fournit pas nativement de salons persistants, d’historique structuré ni d’organisation des échanges.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5"/>
          <p:cNvSpPr/>
          <p:nvPr/>
        </p:nvSpPr>
        <p:spPr>
          <a:xfrm>
            <a:off x="4526280" y="1325880"/>
            <a:ext cx="3245760" cy="19656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4663440" y="1463040"/>
            <a:ext cx="2971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3a5f"/>
                </a:solidFill>
                <a:latin typeface="Aptos"/>
              </a:rPr>
              <a:t>Besoin identifié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4663440" y="1737360"/>
            <a:ext cx="2971440" cy="143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Permettre à des utilisateurs de créer des rooms, publier des messages et relire un historique, même après redémarrage du serveur.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8"/>
          <p:cNvSpPr/>
          <p:nvPr/>
        </p:nvSpPr>
        <p:spPr>
          <a:xfrm>
            <a:off x="8001000" y="1325880"/>
            <a:ext cx="3520080" cy="19656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8138160" y="146304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3a5f"/>
                </a:solidFill>
                <a:latin typeface="Aptos"/>
              </a:rPr>
              <a:t>Contexte d’usage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8138160" y="1737360"/>
            <a:ext cx="3245760" cy="143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Scénarios à infrastructure limitée : terrain, zones isolées, environnement dégradé ou besoin d’un service compact autonome.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1"/>
          <p:cNvSpPr/>
          <p:nvPr/>
        </p:nvSpPr>
        <p:spPr>
          <a:xfrm>
            <a:off x="540000" y="3749040"/>
            <a:ext cx="1980000" cy="502560"/>
          </a:xfrm>
          <a:prstGeom prst="chevron">
            <a:avLst>
              <a:gd name="adj" fmla="val 50000"/>
            </a:avLst>
          </a:prstGeom>
          <a:solidFill>
            <a:srgbClr val="163a5f"/>
          </a:solidFill>
          <a:ln w="12700">
            <a:solidFill>
              <a:srgbClr val="16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12"/>
          <p:cNvSpPr/>
          <p:nvPr/>
        </p:nvSpPr>
        <p:spPr>
          <a:xfrm>
            <a:off x="2323080" y="3749040"/>
            <a:ext cx="1816920" cy="502560"/>
          </a:xfrm>
          <a:prstGeom prst="chevron">
            <a:avLst>
              <a:gd name="adj" fmla="val 50000"/>
            </a:avLst>
          </a:prstGeom>
          <a:solidFill>
            <a:srgbClr val="2f6fa3"/>
          </a:solidFill>
          <a:ln w="12700">
            <a:solidFill>
              <a:srgbClr val="2f6f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13"/>
          <p:cNvSpPr/>
          <p:nvPr/>
        </p:nvSpPr>
        <p:spPr>
          <a:xfrm>
            <a:off x="3960000" y="3780000"/>
            <a:ext cx="1800000" cy="471600"/>
          </a:xfrm>
          <a:prstGeom prst="chevron">
            <a:avLst>
              <a:gd name="adj" fmla="val 50000"/>
            </a:avLst>
          </a:prstGeom>
          <a:solidFill>
            <a:srgbClr val="e58e26"/>
          </a:solidFill>
          <a:ln w="12700">
            <a:solidFill>
              <a:srgbClr val="e58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713160" y="3840480"/>
            <a:ext cx="123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Diffusion simple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2304360" y="384048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Besoin de structure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4257360" y="396000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Room Server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6492240" y="3246120"/>
            <a:ext cx="45716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d2433"/>
                </a:solidFill>
                <a:latin typeface="Aptos"/>
              </a:rPr>
              <a:t>Ajouter une couche applicative sans modifier le protocole Meshtastic.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d2433"/>
                </a:solidFill>
                <a:latin typeface="Aptos"/>
              </a:rPr>
              <a:t>Rester compatible avec du matériel standard : Raspberry Pi 3B + Wio-E5 Mini.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d2433"/>
                </a:solidFill>
                <a:latin typeface="Aptos"/>
              </a:rPr>
              <a:t>Conserver une solution légère, démontrable et robuste.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sldNum" idx="6"/>
          </p:nvPr>
        </p:nvSpPr>
        <p:spPr>
          <a:xfrm>
            <a:off x="11750040" y="6583680"/>
            <a:ext cx="22824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5A4F11-C8FD-42E8-976E-9A54589DC37B}" type="slidenum">
              <a:rPr b="0" lang="en-US" sz="1000" spc="-1" strike="noStrike">
                <a:solidFill>
                  <a:srgbClr val="ffffff"/>
                </a:solidFill>
                <a:latin typeface="Aptos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502920" y="41148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63a5f"/>
                </a:solidFill>
                <a:latin typeface="Aptos Display"/>
                <a:ea typeface="Aptos Display"/>
              </a:rPr>
              <a:t>Objectifs et périmètre fonctionnel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530280" y="841320"/>
            <a:ext cx="795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d6b82"/>
                </a:solidFill>
                <a:latin typeface="Aptos"/>
              </a:rPr>
              <a:t>Ce que le système devait faire pendant le semestre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731520" y="1325880"/>
            <a:ext cx="3474360" cy="4480200"/>
          </a:xfrm>
          <a:prstGeom prst="roundRect">
            <a:avLst>
              <a:gd name="adj" fmla="val 1316"/>
            </a:avLst>
          </a:prstGeom>
          <a:solidFill>
            <a:srgbClr val="eaf2fb"/>
          </a:solidFill>
          <a:ln w="12700">
            <a:solidFill>
              <a:srgbClr val="d8e0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868680" y="146304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3a5f"/>
                </a:solidFill>
                <a:latin typeface="Aptos"/>
              </a:rPr>
              <a:t>Objectifs principaux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868680" y="1737360"/>
            <a:ext cx="3200040" cy="39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Interface par commandes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Persistance locale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Déploiement sur Raspberry Pi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Robustesse après reboot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Démonstrateur réel + documentation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Le choix a été de viser un noyau fonctionnel fiable avant toute extension.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5"/>
          <p:cNvSpPr/>
          <p:nvPr/>
        </p:nvSpPr>
        <p:spPr>
          <a:xfrm>
            <a:off x="4526280" y="1325880"/>
            <a:ext cx="6857640" cy="448020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4754880" y="15728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63a5f"/>
                </a:solidFill>
                <a:latin typeface="Aptos"/>
              </a:rPr>
              <a:t>Fonctionnalités réalisées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6" name="Table 0"/>
          <p:cNvGraphicFramePr/>
          <p:nvPr/>
        </p:nvGraphicFramePr>
        <p:xfrm>
          <a:off x="4709160" y="1938600"/>
          <a:ext cx="6400440" cy="3008160"/>
        </p:xfrm>
        <a:graphic>
          <a:graphicData uri="http://schemas.openxmlformats.org/drawingml/2006/table">
            <a:tbl>
              <a:tblPr/>
              <a:tblGrid>
                <a:gridCol w="1783080"/>
                <a:gridCol w="1097280"/>
                <a:gridCol w="3520440"/>
              </a:tblGrid>
              <a:tr h="4114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Create room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Implémenté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Création d’une room par nom unique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Annonce Messages</a:t>
                      </a:r>
                      <a:endParaRPr b="1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Implémenté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Diffusion d’un message global d’annonce à toutes les rooms / tous les utilisateurs selon votre logique serveur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List rooms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Implémenté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Retour de la liste des rooms stockées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Post message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Implémenté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Ajout d’un message dans une room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Read history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Implémenté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Lecture des N derniers messages avec limites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Help command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Implémenté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Résumé concis des commandes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56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Persistence after reboot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Implémenté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Données conservées après redémarrage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56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Room info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Implémenté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1" lang="en-US" sz="112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Affichage des informations d’une room (nom, description, métadonnées utiles)</a:t>
                      </a:r>
                      <a:endParaRPr b="0" lang="fr-FR" sz="11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PlaceHolder 1"/>
          <p:cNvSpPr>
            <a:spLocks noGrp="1"/>
          </p:cNvSpPr>
          <p:nvPr>
            <p:ph type="sldNum" idx="7"/>
          </p:nvPr>
        </p:nvSpPr>
        <p:spPr>
          <a:xfrm>
            <a:off x="11750040" y="6583680"/>
            <a:ext cx="22824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575026-91EA-444C-885F-E1B84B855DC3}" type="slidenum">
              <a:rPr b="0" lang="en-US" sz="1000" spc="-1" strike="noStrike">
                <a:solidFill>
                  <a:srgbClr val="ffffff"/>
                </a:solidFill>
                <a:latin typeface="Aptos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502920" y="41148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63a5f"/>
                </a:solidFill>
                <a:latin typeface="Aptos Display"/>
                <a:ea typeface="Aptos Display"/>
              </a:rPr>
              <a:t>Architecture de la solution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530280" y="841320"/>
            <a:ext cx="795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d6b82"/>
                </a:solidFill>
                <a:latin typeface="Aptos"/>
              </a:rPr>
              <a:t>Chaîne complète : client LoRa → Room Server → base SQLite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640080" y="1828800"/>
            <a:ext cx="1737000" cy="91404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713160" y="2030040"/>
            <a:ext cx="159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3a5f"/>
                </a:solidFill>
                <a:latin typeface="Aptos"/>
              </a:rPr>
              <a:t>Smartphone / client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4"/>
          <p:cNvSpPr/>
          <p:nvPr/>
        </p:nvSpPr>
        <p:spPr>
          <a:xfrm>
            <a:off x="2697480" y="1828800"/>
            <a:ext cx="1599840" cy="91404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2770560" y="2030040"/>
            <a:ext cx="1453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3a5f"/>
                </a:solidFill>
                <a:latin typeface="Aptos"/>
              </a:rPr>
              <a:t>Noeud LoRa client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6"/>
          <p:cNvSpPr/>
          <p:nvPr/>
        </p:nvSpPr>
        <p:spPr>
          <a:xfrm>
            <a:off x="4617720" y="1828800"/>
            <a:ext cx="1828440" cy="914040"/>
          </a:xfrm>
          <a:prstGeom prst="roundRect">
            <a:avLst>
              <a:gd name="adj" fmla="val 5000"/>
            </a:avLst>
          </a:prstGeom>
          <a:solidFill>
            <a:srgbClr val="fff2e2"/>
          </a:solidFill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4690800" y="2030040"/>
            <a:ext cx="168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3a5f"/>
                </a:solidFill>
                <a:latin typeface="Aptos"/>
              </a:rPr>
              <a:t>Noeud serveur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3a5f"/>
                </a:solidFill>
                <a:latin typeface="Aptos"/>
              </a:rPr>
              <a:t>Wio-E5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8"/>
          <p:cNvSpPr/>
          <p:nvPr/>
        </p:nvSpPr>
        <p:spPr>
          <a:xfrm>
            <a:off x="6812280" y="1828800"/>
            <a:ext cx="1828440" cy="914040"/>
          </a:xfrm>
          <a:prstGeom prst="roundRect">
            <a:avLst>
              <a:gd name="adj" fmla="val 5000"/>
            </a:avLst>
          </a:prstGeom>
          <a:solidFill>
            <a:srgbClr val="eaf7ef"/>
          </a:solidFill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6885360" y="2030040"/>
            <a:ext cx="168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3a5f"/>
                </a:solidFill>
                <a:latin typeface="Aptos"/>
              </a:rPr>
              <a:t>Raspberry Pi 3B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0"/>
          <p:cNvSpPr/>
          <p:nvPr/>
        </p:nvSpPr>
        <p:spPr>
          <a:xfrm>
            <a:off x="9006840" y="1828800"/>
            <a:ext cx="2011320" cy="914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9079920" y="2030040"/>
            <a:ext cx="186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3a5f"/>
                </a:solidFill>
                <a:latin typeface="Aptos"/>
              </a:rPr>
              <a:t>Application Python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3a5f"/>
                </a:solidFill>
                <a:latin typeface="Aptos"/>
              </a:rPr>
              <a:t>Room Server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2"/>
          <p:cNvSpPr/>
          <p:nvPr/>
        </p:nvSpPr>
        <p:spPr>
          <a:xfrm>
            <a:off x="2395800" y="2075760"/>
            <a:ext cx="456840" cy="328680"/>
          </a:xfrm>
          <a:prstGeom prst="chevron">
            <a:avLst>
              <a:gd name="adj" fmla="val 50000"/>
            </a:avLst>
          </a:prstGeom>
          <a:solidFill>
            <a:srgbClr val="2f6fa3"/>
          </a:solidFill>
          <a:ln w="12700">
            <a:solidFill>
              <a:srgbClr val="2f6f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3"/>
          <p:cNvSpPr/>
          <p:nvPr/>
        </p:nvSpPr>
        <p:spPr>
          <a:xfrm>
            <a:off x="4316040" y="2075760"/>
            <a:ext cx="456840" cy="328680"/>
          </a:xfrm>
          <a:prstGeom prst="chevron">
            <a:avLst>
              <a:gd name="adj" fmla="val 50000"/>
            </a:avLst>
          </a:prstGeom>
          <a:solidFill>
            <a:srgbClr val="2f6fa3"/>
          </a:solidFill>
          <a:ln w="12700">
            <a:solidFill>
              <a:srgbClr val="2f6f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14"/>
          <p:cNvSpPr/>
          <p:nvPr/>
        </p:nvSpPr>
        <p:spPr>
          <a:xfrm>
            <a:off x="6510600" y="2075760"/>
            <a:ext cx="456840" cy="328680"/>
          </a:xfrm>
          <a:prstGeom prst="chevron">
            <a:avLst>
              <a:gd name="adj" fmla="val 50000"/>
            </a:avLst>
          </a:prstGeom>
          <a:solidFill>
            <a:srgbClr val="2f6fa3"/>
          </a:solidFill>
          <a:ln w="12700">
            <a:solidFill>
              <a:srgbClr val="2f6f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15"/>
          <p:cNvSpPr/>
          <p:nvPr/>
        </p:nvSpPr>
        <p:spPr>
          <a:xfrm>
            <a:off x="8705160" y="2075760"/>
            <a:ext cx="456840" cy="328680"/>
          </a:xfrm>
          <a:prstGeom prst="chevron">
            <a:avLst>
              <a:gd name="adj" fmla="val 50000"/>
            </a:avLst>
          </a:prstGeom>
          <a:solidFill>
            <a:srgbClr val="2f6fa3"/>
          </a:solidFill>
          <a:ln w="12700">
            <a:solidFill>
              <a:srgbClr val="2f6f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16"/>
          <p:cNvSpPr/>
          <p:nvPr/>
        </p:nvSpPr>
        <p:spPr>
          <a:xfrm>
            <a:off x="4498920" y="3246120"/>
            <a:ext cx="2057040" cy="1051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7"/>
          <p:cNvSpPr/>
          <p:nvPr/>
        </p:nvSpPr>
        <p:spPr>
          <a:xfrm>
            <a:off x="4663440" y="361188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d2433"/>
                </a:solidFill>
                <a:latin typeface="Aptos"/>
              </a:rPr>
              <a:t>Meshtastic serial interface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8"/>
          <p:cNvSpPr/>
          <p:nvPr/>
        </p:nvSpPr>
        <p:spPr>
          <a:xfrm>
            <a:off x="7086600" y="3246120"/>
            <a:ext cx="1965600" cy="1051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9"/>
          <p:cNvSpPr/>
          <p:nvPr/>
        </p:nvSpPr>
        <p:spPr>
          <a:xfrm>
            <a:off x="7269480" y="3611880"/>
            <a:ext cx="159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d2433"/>
                </a:solidFill>
                <a:latin typeface="Aptos"/>
              </a:rPr>
              <a:t>Parser + RoomManager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0"/>
          <p:cNvSpPr/>
          <p:nvPr/>
        </p:nvSpPr>
        <p:spPr>
          <a:xfrm>
            <a:off x="9555480" y="3246120"/>
            <a:ext cx="1782720" cy="1051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9875520" y="35845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63a5f"/>
                </a:solidFill>
                <a:latin typeface="Aptos"/>
              </a:rPr>
              <a:t>SQLite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2"/>
          <p:cNvSpPr/>
          <p:nvPr/>
        </p:nvSpPr>
        <p:spPr>
          <a:xfrm>
            <a:off x="6565320" y="3657600"/>
            <a:ext cx="365400" cy="255600"/>
          </a:xfrm>
          <a:prstGeom prst="chevron">
            <a:avLst>
              <a:gd name="adj" fmla="val 50000"/>
            </a:avLst>
          </a:prstGeom>
          <a:solidFill>
            <a:srgbClr val="e58e26"/>
          </a:solidFill>
          <a:ln w="12700">
            <a:solidFill>
              <a:srgbClr val="e58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23"/>
          <p:cNvSpPr/>
          <p:nvPr/>
        </p:nvSpPr>
        <p:spPr>
          <a:xfrm>
            <a:off x="9098280" y="3657600"/>
            <a:ext cx="365400" cy="255600"/>
          </a:xfrm>
          <a:prstGeom prst="chevron">
            <a:avLst>
              <a:gd name="adj" fmla="val 50000"/>
            </a:avLst>
          </a:prstGeom>
          <a:solidFill>
            <a:srgbClr val="e58e26"/>
          </a:solidFill>
          <a:ln w="12700">
            <a:solidFill>
              <a:srgbClr val="e58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24"/>
          <p:cNvSpPr/>
          <p:nvPr/>
        </p:nvSpPr>
        <p:spPr>
          <a:xfrm>
            <a:off x="868680" y="470916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1550" spc="-1" strike="noStrike">
                <a:solidFill>
                  <a:srgbClr val="1d2433"/>
                </a:solidFill>
                <a:latin typeface="Aptos"/>
              </a:rPr>
              <a:t>Architecture modulaire : transport, parsing, logique métier, persistance.</a:t>
            </a:r>
            <a:endParaRPr b="0" lang="fr-FR" sz="15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1550" spc="-1" strike="noStrike">
                <a:solidFill>
                  <a:srgbClr val="1d2433"/>
                </a:solidFill>
                <a:latin typeface="Aptos"/>
              </a:rPr>
              <a:t>Pas de modification du protocole radio : la valeur est ajoutée côté application.</a:t>
            </a:r>
            <a:endParaRPr b="0" lang="fr-FR" sz="15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1550" spc="-1" strike="noStrike">
                <a:solidFill>
                  <a:srgbClr val="1d2433"/>
                </a:solidFill>
                <a:latin typeface="Aptos"/>
              </a:rPr>
              <a:t>Déploiement réel sur matériel embarqué.</a:t>
            </a:r>
            <a:endParaRPr b="0" lang="fr-F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sldNum" idx="8"/>
          </p:nvPr>
        </p:nvSpPr>
        <p:spPr>
          <a:xfrm>
            <a:off x="11750040" y="6583680"/>
            <a:ext cx="22824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740217-DA0D-41AF-A3EF-73F39FFD552F}" type="slidenum">
              <a:rPr b="0" lang="en-US" sz="1000" spc="-1" strike="noStrike">
                <a:solidFill>
                  <a:srgbClr val="ffffff"/>
                </a:solidFill>
                <a:latin typeface="Aptos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502920" y="41148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63a5f"/>
                </a:solidFill>
                <a:latin typeface="Aptos Display"/>
                <a:ea typeface="Aptos Display"/>
              </a:rPr>
              <a:t>Fonctionnement logiciel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530280" y="841320"/>
            <a:ext cx="795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d6b82"/>
                </a:solidFill>
                <a:latin typeface="Aptos"/>
              </a:rPr>
              <a:t>Modules principaux et rôle de chaque composant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6" name="Table 0"/>
          <p:cNvGraphicFramePr/>
          <p:nvPr/>
        </p:nvGraphicFramePr>
        <p:xfrm>
          <a:off x="731520" y="1463040"/>
          <a:ext cx="6400440" cy="3711960"/>
        </p:xfrm>
        <a:graphic>
          <a:graphicData uri="http://schemas.openxmlformats.org/drawingml/2006/table">
            <a:tbl>
              <a:tblPr/>
              <a:tblGrid>
                <a:gridCol w="1691640"/>
                <a:gridCol w="4709160"/>
              </a:tblGrid>
              <a:tr h="5302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main.py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Orchestrateur : initialise DB, RoomManager et connexion matérielle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parser.py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Analyse la syntaxe des commandes /room et extrait les arguments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room_manager.py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Cœur métier : rooms, anti-spam, formatage, lecture et écriture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database.py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Stockage SQLite : tables rooms/messages et opérations CRUD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meshtastic_comm_hw.py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Interface réelle avec le module LoRa via /dev/ttyUSB*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client.py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Client de test pour envoyer les commandes au serveur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logger.py / reset_db.py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Supervision, debugging et maintenance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7" name="Shape 2"/>
          <p:cNvSpPr/>
          <p:nvPr/>
        </p:nvSpPr>
        <p:spPr>
          <a:xfrm>
            <a:off x="7726680" y="1508760"/>
            <a:ext cx="3565800" cy="132552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2700">
            <a:solidFill>
              <a:srgbClr val="d8e0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7863840" y="1645920"/>
            <a:ext cx="3291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3a5f"/>
                </a:solidFill>
                <a:latin typeface="Aptos"/>
              </a:rPr>
              <a:t>Structure choisie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7863840" y="1920240"/>
            <a:ext cx="329148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Chaque module a une responsabilité claire. Cela facilite les tests, le debug et la maintenance.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5"/>
          <p:cNvSpPr/>
          <p:nvPr/>
        </p:nvSpPr>
        <p:spPr>
          <a:xfrm>
            <a:off x="7726680" y="3017520"/>
            <a:ext cx="3565800" cy="1325520"/>
          </a:xfrm>
          <a:prstGeom prst="roundRect">
            <a:avLst>
              <a:gd name="adj" fmla="val 3448"/>
            </a:avLst>
          </a:prstGeom>
          <a:solidFill>
            <a:srgbClr val="eaf7ef"/>
          </a:solidFill>
          <a:ln w="12700">
            <a:solidFill>
              <a:srgbClr val="d8e0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7863840" y="3154680"/>
            <a:ext cx="3291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3a5f"/>
                </a:solidFill>
                <a:latin typeface="Aptos"/>
              </a:rPr>
              <a:t>Persistance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7863840" y="3429000"/>
            <a:ext cx="329148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SQLite a été retenu pour ses transactions atomiques et sa meilleure robustesse qu’un simple fichier JSON.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8"/>
          <p:cNvSpPr/>
          <p:nvPr/>
        </p:nvSpPr>
        <p:spPr>
          <a:xfrm>
            <a:off x="7726680" y="4526280"/>
            <a:ext cx="3565800" cy="1325520"/>
          </a:xfrm>
          <a:prstGeom prst="roundRect">
            <a:avLst>
              <a:gd name="adj" fmla="val 3448"/>
            </a:avLst>
          </a:prstGeom>
          <a:solidFill>
            <a:srgbClr val="fff2e2"/>
          </a:solidFill>
          <a:ln w="12700">
            <a:solidFill>
              <a:srgbClr val="d8e0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7863840" y="4663440"/>
            <a:ext cx="3291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3a5f"/>
                </a:solidFill>
                <a:latin typeface="Aptos"/>
              </a:rPr>
              <a:t>Contributions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0"/>
          <p:cNvSpPr/>
          <p:nvPr/>
        </p:nvSpPr>
        <p:spPr>
          <a:xfrm>
            <a:off x="7863840" y="4937760"/>
            <a:ext cx="329148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Adam : parsing, hardware comm, client, orchestration.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Arhan : DB, room management, simulation, logging, maintenance.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sldNum" idx="9"/>
          </p:nvPr>
        </p:nvSpPr>
        <p:spPr>
          <a:xfrm>
            <a:off x="11750040" y="6583680"/>
            <a:ext cx="22824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7E1E2A-175F-4C3E-8C7E-017A80CC8131}" type="slidenum">
              <a:rPr b="0" lang="en-US" sz="1000" spc="-1" strike="noStrike">
                <a:solidFill>
                  <a:srgbClr val="ffffff"/>
                </a:solidFill>
                <a:latin typeface="Aptos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502920" y="41148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63a5f"/>
                </a:solidFill>
                <a:latin typeface="Aptos Display"/>
                <a:ea typeface="Aptos Display"/>
              </a:rPr>
              <a:t>Contraintes LoRa et choix techniques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530280" y="841320"/>
            <a:ext cx="795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d6b82"/>
                </a:solidFill>
                <a:latin typeface="Aptos"/>
              </a:rPr>
              <a:t>Les compromis qui ont guidé l’implémentation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685800" y="1417320"/>
            <a:ext cx="3565800" cy="1416960"/>
          </a:xfrm>
          <a:prstGeom prst="roundRect">
            <a:avLst>
              <a:gd name="adj" fmla="val 3226"/>
            </a:avLst>
          </a:prstGeom>
          <a:solidFill>
            <a:srgbClr val="fff2e2"/>
          </a:solidFill>
          <a:ln w="12700">
            <a:solidFill>
              <a:srgbClr val="d8e0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822960" y="1554480"/>
            <a:ext cx="3291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3a5f"/>
                </a:solidFill>
                <a:latin typeface="Aptos"/>
              </a:rPr>
              <a:t>Payload limité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822960" y="1828800"/>
            <a:ext cx="32914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Les réponses doivent rester courtes pour éviter la saturation radio et limiter les pertes.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5"/>
          <p:cNvSpPr/>
          <p:nvPr/>
        </p:nvSpPr>
        <p:spPr>
          <a:xfrm>
            <a:off x="685800" y="3063240"/>
            <a:ext cx="3565800" cy="1416960"/>
          </a:xfrm>
          <a:prstGeom prst="roundRect">
            <a:avLst>
              <a:gd name="adj" fmla="val 3226"/>
            </a:avLst>
          </a:prstGeom>
          <a:solidFill>
            <a:srgbClr val="fff2e2"/>
          </a:solidFill>
          <a:ln w="12700">
            <a:solidFill>
              <a:srgbClr val="d8e0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822960" y="3200400"/>
            <a:ext cx="3291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3a5f"/>
                </a:solidFill>
                <a:latin typeface="Aptos"/>
              </a:rPr>
              <a:t>Faible bande passante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822960" y="3474720"/>
            <a:ext cx="32914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La lecture d’historique est volontairement limitée et les réponses longues sont découpées.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8"/>
          <p:cNvSpPr/>
          <p:nvPr/>
        </p:nvSpPr>
        <p:spPr>
          <a:xfrm>
            <a:off x="685800" y="4709160"/>
            <a:ext cx="3565800" cy="1005480"/>
          </a:xfrm>
          <a:prstGeom prst="roundRect">
            <a:avLst>
              <a:gd name="adj" fmla="val 4545"/>
            </a:avLst>
          </a:prstGeom>
          <a:solidFill>
            <a:srgbClr val="fff2e2"/>
          </a:solidFill>
          <a:ln w="12700">
            <a:solidFill>
              <a:srgbClr val="d8e0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822960" y="4846320"/>
            <a:ext cx="3291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3a5f"/>
                </a:solidFill>
                <a:latin typeface="Aptos"/>
              </a:rPr>
              <a:t>Interférences réseau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822960" y="5120640"/>
            <a:ext cx="32914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Utilisation d’un canal privé avec PSK dédiée pour isoler les tests.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1"/>
          <p:cNvSpPr/>
          <p:nvPr/>
        </p:nvSpPr>
        <p:spPr>
          <a:xfrm>
            <a:off x="4663440" y="1371600"/>
            <a:ext cx="6811920" cy="452592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4892040" y="16459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63a5f"/>
                </a:solidFill>
                <a:latin typeface="Aptos"/>
              </a:rPr>
              <a:t>Réponses apportées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4892040" y="2011680"/>
            <a:ext cx="62175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d2433"/>
                </a:solidFill>
                <a:latin typeface="Aptos"/>
              </a:rPr>
              <a:t>Commandes courtes : /room create, /room list, /room post, /room read,/room info, /room annonce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d2433"/>
                </a:solidFill>
                <a:latin typeface="Aptos"/>
              </a:rPr>
              <a:t>Chunking des messages trop longs pour améliorer la lisibilité et réduire le risque de perte.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d2433"/>
                </a:solidFill>
                <a:latin typeface="Aptos"/>
              </a:rPr>
              <a:t>Messages administratifs envoyés en privé quand c’est pertinent.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d2433"/>
                </a:solidFill>
                <a:latin typeface="Aptos"/>
              </a:rPr>
              <a:t>systemd pour redémarrage automatique au boot ou après échec.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d2433"/>
                </a:solidFill>
                <a:latin typeface="Aptos"/>
              </a:rPr>
              <a:t>Surveillance du matériel et stratégie de reprise après déconnexion USB.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4937760" y="4983480"/>
            <a:ext cx="6126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f6fa3"/>
                </a:solidFill>
                <a:latin typeface="Aptos"/>
              </a:rPr>
              <a:t>Idée clé : dans un environnement contraint, la valeur vient moins de la complexité que du bon compromis entre simplicité, robustesse et démontrabilité.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sldNum" idx="10"/>
          </p:nvPr>
        </p:nvSpPr>
        <p:spPr>
          <a:xfrm>
            <a:off x="11750040" y="6583680"/>
            <a:ext cx="22824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EEF3FF-2BFF-4DA7-A79B-84D6B81DF762}" type="slidenum">
              <a:rPr b="0" lang="en-US" sz="1000" spc="-1" strike="noStrike">
                <a:solidFill>
                  <a:srgbClr val="ffffff"/>
                </a:solidFill>
                <a:latin typeface="Aptos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502920" y="41148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63a5f"/>
                </a:solidFill>
                <a:latin typeface="Aptos Display"/>
                <a:ea typeface="Aptos Display"/>
              </a:rPr>
              <a:t>Validation et démonstration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530280" y="841320"/>
            <a:ext cx="795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d6b82"/>
                </a:solidFill>
                <a:latin typeface="Aptos"/>
              </a:rPr>
              <a:t>Ce qui a été effectivement testé sur le démonstrateur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5" name="Table 0"/>
          <p:cNvGraphicFramePr/>
          <p:nvPr/>
        </p:nvGraphicFramePr>
        <p:xfrm>
          <a:off x="731520" y="1600200"/>
          <a:ext cx="6217560" cy="3049200"/>
        </p:xfrm>
        <a:graphic>
          <a:graphicData uri="http://schemas.openxmlformats.org/drawingml/2006/table">
            <a:tbl>
              <a:tblPr/>
              <a:tblGrid>
                <a:gridCol w="1600200"/>
                <a:gridCol w="3611880"/>
                <a:gridCol w="1005840"/>
              </a:tblGrid>
              <a:tr h="50292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Créer une room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Commande exécutée et accusé de réception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Validé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Poster un message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Message stocké dans la bonne room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Validé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Lire l’historique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Retour des derniers messages formatés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Validé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Redémarrer le serveur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Données toujours présentes après reboot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Validé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Débrancher le module USB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Sortie propre puis relance via systemd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Validé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Canal privé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Isolation par rapport au trafic public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30" spc="-1" strike="noStrike">
                          <a:solidFill>
                            <a:srgbClr val="1d2433"/>
                          </a:solidFill>
                          <a:latin typeface="Aptos"/>
                        </a:rPr>
                        <a:t>Validé</a:t>
                      </a:r>
                      <a:endParaRPr b="0" lang="fr-FR" sz="12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d8e0ea"/>
                      </a:solidFill>
                      <a:prstDash val="solid"/>
                    </a:lnL>
                    <a:lnR w="12240">
                      <a:solidFill>
                        <a:srgbClr val="d8e0ea"/>
                      </a:solidFill>
                      <a:prstDash val="solid"/>
                    </a:lnR>
                    <a:lnT w="12240">
                      <a:solidFill>
                        <a:srgbClr val="d8e0ea"/>
                      </a:solidFill>
                      <a:prstDash val="solid"/>
                    </a:lnT>
                    <a:lnB w="12240">
                      <a:solidFill>
                        <a:srgbClr val="d8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6" name="Shape 2"/>
          <p:cNvSpPr/>
          <p:nvPr/>
        </p:nvSpPr>
        <p:spPr>
          <a:xfrm>
            <a:off x="7543800" y="1645920"/>
            <a:ext cx="3657240" cy="132552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2700">
            <a:solidFill>
              <a:srgbClr val="d8e0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7680960" y="1783080"/>
            <a:ext cx="3382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3a5f"/>
                </a:solidFill>
                <a:latin typeface="Aptos"/>
              </a:rPr>
              <a:t>Stratégie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7680960" y="2057400"/>
            <a:ext cx="338292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Validation progressive : d’abord en environnement mock, puis sur matériel réel.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5"/>
          <p:cNvSpPr/>
          <p:nvPr/>
        </p:nvSpPr>
        <p:spPr>
          <a:xfrm>
            <a:off x="7543800" y="3200400"/>
            <a:ext cx="3657240" cy="1325520"/>
          </a:xfrm>
          <a:prstGeom prst="roundRect">
            <a:avLst>
              <a:gd name="adj" fmla="val 3448"/>
            </a:avLst>
          </a:prstGeom>
          <a:solidFill>
            <a:srgbClr val="eaf7ef"/>
          </a:solidFill>
          <a:ln w="12700">
            <a:solidFill>
              <a:srgbClr val="d8e0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7680960" y="3337560"/>
            <a:ext cx="3382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3a5f"/>
                </a:solidFill>
                <a:latin typeface="Aptos"/>
              </a:rPr>
              <a:t>Résultat principal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7"/>
          <p:cNvSpPr/>
          <p:nvPr/>
        </p:nvSpPr>
        <p:spPr>
          <a:xfrm>
            <a:off x="7680960" y="3611880"/>
            <a:ext cx="338292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Le projet a démontré qu’un nœud Raspberry Pi peut étendre Meshtastic avec des rooms persistantes et une reprise contrôlée après panne.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8"/>
          <p:cNvSpPr/>
          <p:nvPr/>
        </p:nvSpPr>
        <p:spPr>
          <a:xfrm>
            <a:off x="7543800" y="4754880"/>
            <a:ext cx="3657240" cy="1051200"/>
          </a:xfrm>
          <a:prstGeom prst="roundRect">
            <a:avLst>
              <a:gd name="adj" fmla="val 4348"/>
            </a:avLst>
          </a:prstGeom>
          <a:solidFill>
            <a:srgbClr val="fff2e2"/>
          </a:solidFill>
          <a:ln w="12700">
            <a:solidFill>
              <a:srgbClr val="d8e0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7680960" y="4892040"/>
            <a:ext cx="3382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3a5f"/>
                </a:solidFill>
                <a:latin typeface="Aptos"/>
              </a:rPr>
              <a:t>Limite assumée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7680960" y="5166360"/>
            <a:ext cx="33829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La campagne est surtout qualitative : peu de mesures massives de latence multi-clients.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sldNum" idx="11"/>
          </p:nvPr>
        </p:nvSpPr>
        <p:spPr>
          <a:xfrm>
            <a:off x="11750040" y="6583680"/>
            <a:ext cx="22824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1D54F8-D9B3-4FC2-97DE-B8C4301D1B7E}" type="slidenum">
              <a:rPr b="0" lang="en-US" sz="1000" spc="-1" strike="noStrike">
                <a:solidFill>
                  <a:srgbClr val="ffffff"/>
                </a:solidFill>
                <a:latin typeface="Aptos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/>
          <p:nvPr/>
        </p:nvSpPr>
        <p:spPr>
          <a:xfrm>
            <a:off x="502920" y="41148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63a5f"/>
                </a:solidFill>
                <a:latin typeface="Aptos Display"/>
                <a:ea typeface="Aptos Display"/>
              </a:rPr>
              <a:t>Bilan, apport et perspectives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530280" y="841320"/>
            <a:ext cx="795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d6b82"/>
                </a:solidFill>
                <a:latin typeface="Aptos"/>
              </a:rPr>
              <a:t>Ce que le projet prouve et ce qu’il reste à faire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731520" y="1417320"/>
            <a:ext cx="3474360" cy="1828440"/>
          </a:xfrm>
          <a:prstGeom prst="roundRect">
            <a:avLst>
              <a:gd name="adj" fmla="val 2500"/>
            </a:avLst>
          </a:prstGeom>
          <a:solidFill>
            <a:srgbClr val="eaf7ef"/>
          </a:solidFill>
          <a:ln w="12700">
            <a:solidFill>
              <a:srgbClr val="d8e0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868680" y="155448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3a5f"/>
                </a:solidFill>
                <a:latin typeface="Aptos"/>
              </a:rPr>
              <a:t>Bilan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868680" y="1828800"/>
            <a:ext cx="320004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Le cœur fonctionnel demandé a été réalisé : rooms, messages persistants, lecture d’historique, robustesse après redémarrage et déploiement embarqué.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5"/>
          <p:cNvSpPr/>
          <p:nvPr/>
        </p:nvSpPr>
        <p:spPr>
          <a:xfrm>
            <a:off x="665640" y="3703320"/>
            <a:ext cx="3474360" cy="1828440"/>
          </a:xfrm>
          <a:prstGeom prst="roundRect">
            <a:avLst>
              <a:gd name="adj" fmla="val 2500"/>
            </a:avLst>
          </a:prstGeom>
          <a:solidFill>
            <a:srgbClr val="eaf2fb"/>
          </a:solidFill>
          <a:ln w="12700">
            <a:solidFill>
              <a:srgbClr val="d8e0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868680" y="370332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3a5f"/>
                </a:solidFill>
                <a:latin typeface="Aptos"/>
              </a:rPr>
              <a:t>Apport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868680" y="3977640"/>
            <a:ext cx="320004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433"/>
                </a:solidFill>
                <a:latin typeface="Aptos"/>
              </a:rPr>
              <a:t>Le Room Server apporte une organisation structurée des échanges au-dessus d’un réseau initialement orienté diffusion simple.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8"/>
          <p:cNvSpPr/>
          <p:nvPr/>
        </p:nvSpPr>
        <p:spPr>
          <a:xfrm>
            <a:off x="4572000" y="1417320"/>
            <a:ext cx="6766200" cy="397728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4800600" y="17190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63a5f"/>
                </a:solidFill>
                <a:latin typeface="Aptos"/>
              </a:rPr>
              <a:t>Perspectives d’évolution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4800600" y="2057400"/>
            <a:ext cx="603468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d2433"/>
                </a:solidFill>
                <a:latin typeface="Aptos"/>
              </a:rPr>
              <a:t>Gestion des droits et rooms privées.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d2433"/>
                </a:solidFill>
                <a:latin typeface="Aptos"/>
              </a:rPr>
              <a:t>Interface web locale hébergée sur le Raspberry Pi.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d2433"/>
                </a:solidFill>
                <a:latin typeface="Aptos"/>
              </a:rPr>
              <a:t>Synchronisation entre plusieurs Room Servers.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d2433"/>
                </a:solidFill>
                <a:latin typeface="Aptos"/>
              </a:rPr>
              <a:t>Tableau de bord de supervision et statistiques d’usage.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433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d2433"/>
                </a:solidFill>
                <a:latin typeface="Aptos"/>
              </a:rPr>
              <a:t>Mesures quantitatives plus poussées sous charge contrôlée.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1"/>
          <p:cNvSpPr/>
          <p:nvPr/>
        </p:nvSpPr>
        <p:spPr>
          <a:xfrm>
            <a:off x="4800600" y="47091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58e26"/>
                </a:solidFill>
                <a:latin typeface="Aptos"/>
              </a:rPr>
              <a:t>Merci pour votre attention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4800600" y="50749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sldNum" idx="12"/>
          </p:nvPr>
        </p:nvSpPr>
        <p:spPr>
          <a:xfrm>
            <a:off x="11750040" y="6583680"/>
            <a:ext cx="22824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E96975-8886-45DA-AC7C-BE3A3F8862C4}" type="slidenum">
              <a:rPr b="0" lang="en-US" sz="1000" spc="-1" strike="noStrike">
                <a:solidFill>
                  <a:srgbClr val="ffffff"/>
                </a:solidFill>
                <a:latin typeface="Aptos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LibreOffice/24.2.7.2$Linux_X86_64 LibreOffice_project/420$Build-2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2026-03-27T11:02:59Z</dcterms:created>
  <dc:creator>OpenAI</dc:creator>
  <dc:description/>
  <dc:language>fr-FR</dc:language>
  <cp:lastModifiedBy/>
  <dcterms:modified xsi:type="dcterms:W3CDTF">2026-03-27T12:31:02Z</dcterms:modified>
  <cp:revision>4</cp:revision>
  <dc:subject>Room Server - Soutenance S8</dc:subject>
  <dc:title>Room Server - Soutenance S8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